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1097280"/>
            <a:ext cx="4572000" cy="4572000"/>
          </a:xfrm>
          <a:prstGeom prst="ellipse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4480560"/>
            <a:ext cx="2743200" cy="2743200"/>
          </a:xfrm>
          <a:prstGeom prst="ellipse">
            <a:avLst/>
          </a:prstGeom>
          <a:solidFill>
            <a:srgbClr val="08756F"/>
          </a:solidFill>
          <a:ln>
            <a:solidFill>
              <a:srgbClr val="087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2423160" cy="292608"/>
          </a:xfrm>
          <a:prstGeom prst="roundRect">
            <a:avLst/>
          </a:prstGeom>
          <a:solidFill>
            <a:srgbClr val="08756F"/>
          </a:solidFill>
          <a:ln>
            <a:solidFill>
              <a:srgbClr val="087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594360"/>
            <a:ext cx="23317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CMT-02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667512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>
                <a:solidFill>
                  <a:srgbClr val="FFFFFF"/>
                </a:solidFill>
                <a:latin typeface="Aptos"/>
              </a:rPr>
              <a:t>SDLC Agentic</a:t>
            </a:r>
            <a:br/>
            <a:r>
              <a:t>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880360"/>
            <a:ext cx="69494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D9F1ED"/>
                </a:solidFill>
                <a:latin typeface="Aptos"/>
              </a:rPr>
              <a:t>End-to-End New Feature Development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611880"/>
            <a:ext cx="65836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7D5DF"/>
                </a:solidFill>
                <a:latin typeface="Aptos"/>
              </a:rPr>
              <a:t>Turning a raw requirement into governed, traceable delivery artifacts—through eleven coordinated agents.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5074920"/>
            <a:ext cx="56692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9A3F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5138928"/>
            <a:ext cx="1143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1CD"/>
                </a:solidFill>
                <a:latin typeface="Aptos"/>
              </a:rPr>
              <a:t>SPECIALIZED</a:t>
            </a:r>
            <a:br/>
            <a:r>
              <a:t>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2344" y="5074920"/>
            <a:ext cx="56692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1" y="5138928"/>
            <a:ext cx="1143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1CD"/>
                </a:solidFill>
                <a:latin typeface="Aptos"/>
              </a:rPr>
              <a:t>LIFECYCLE</a:t>
            </a:r>
            <a:br/>
            <a:r>
              <a:t>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5074920"/>
            <a:ext cx="56692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8112" y="5138928"/>
            <a:ext cx="1143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C1CD"/>
                </a:solidFill>
                <a:latin typeface="Aptos"/>
              </a:rPr>
              <a:t>TRACEABILITY</a:t>
            </a:r>
            <a:br/>
            <a:r>
              <a:t>SPINE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234440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Requirement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1874519"/>
            <a:ext cx="2194560" cy="402336"/>
          </a:xfrm>
          <a:prstGeom prst="roundRect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1947672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BRD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582912" y="2286000"/>
            <a:ext cx="292608" cy="210312"/>
          </a:xfrm>
          <a:prstGeom prst="downArrow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41080" y="2487168"/>
            <a:ext cx="2194560" cy="402336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2560320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Stories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582912" y="2898648"/>
            <a:ext cx="292608" cy="210312"/>
          </a:xfrm>
          <a:prstGeom prst="downArrow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41080" y="3099815"/>
            <a:ext cx="2194560" cy="402336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317296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Code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582912" y="3511296"/>
            <a:ext cx="292608" cy="210312"/>
          </a:xfrm>
          <a:prstGeom prst="downArrow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41080" y="3712464"/>
            <a:ext cx="2194560" cy="402336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3785616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Tests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582912" y="4123944"/>
            <a:ext cx="292608" cy="210312"/>
          </a:xfrm>
          <a:prstGeom prst="downArrow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41080" y="4325112"/>
            <a:ext cx="2194560" cy="402336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2520" y="4398264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Release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9582912" y="4736592"/>
            <a:ext cx="292608" cy="210312"/>
          </a:xfrm>
          <a:prstGeom prst="downArrow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41080" y="4937760"/>
            <a:ext cx="2194560" cy="402336"/>
          </a:xfrm>
          <a:prstGeom prst="roundRect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5010912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28816"/>
            <a:ext cx="10241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1A7B7"/>
                </a:solidFill>
                <a:latin typeface="Aptos"/>
              </a:rPr>
              <a:t>SDLC Agentic Framework  |  End-to-End New Feature Development 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528816"/>
            <a:ext cx="548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91A7B7"/>
                </a:solidFill>
                <a:latin typeface="Aptos"/>
              </a:rPr>
              <a:t>CMT-02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56F"/>
                </a:solidFill>
                <a:latin typeface="Aptos"/>
              </a:rPr>
              <a:t>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Aptos"/>
              </a:rPr>
              <a:t>The proposition in one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0972800" cy="22860"/>
          </a:xfrm>
          <a:prstGeom prst="rect">
            <a:avLst/>
          </a:prstGeom>
          <a:solidFill>
            <a:srgbClr val="D8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73152" cy="1874519"/>
          </a:xfrm>
          <a:prstGeom prst="rect">
            <a:avLst/>
          </a:prstGeom>
          <a:solidFill>
            <a:srgbClr val="C95757"/>
          </a:solidFill>
          <a:ln>
            <a:solidFill>
              <a:srgbClr val="C9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73351"/>
            <a:ext cx="31546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0243E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3154680" cy="1124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E6375"/>
                </a:solidFill>
                <a:latin typeface="Aptos"/>
              </a:rPr>
              <a:t>Manual handoffs fragment context across requirements, planning, coding, testing, and release.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1874519"/>
          </a:xfrm>
          <a:prstGeom prst="rect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673351"/>
            <a:ext cx="31546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0243E"/>
                </a:solidFill>
                <a:latin typeface="Aptos"/>
              </a:rPr>
              <a:t>The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30552"/>
            <a:ext cx="3154680" cy="1124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E6375"/>
                </a:solidFill>
                <a:latin typeface="Aptos"/>
              </a:rPr>
              <a:t>An orchestrated set of 11 agents creates and links delivery artifacts from intake through QA handoff.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73152" cy="1874519"/>
          </a:xfrm>
          <a:prstGeom prst="rect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673351"/>
            <a:ext cx="31546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0243E"/>
                </a:solidFill>
                <a:latin typeface="Aptos"/>
              </a:rPr>
              <a:t>The guardrail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30552"/>
            <a:ext cx="3154680" cy="1124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E6375"/>
                </a:solidFill>
                <a:latin typeface="Aptos"/>
              </a:rPr>
              <a:t>Architect approvals lock scope and code intent while automation handles repeatable execution.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877056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43E"/>
                </a:solidFill>
                <a:latin typeface="Aptos"/>
              </a:rPr>
              <a:t>Hackathon proof 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370832"/>
            <a:ext cx="11018520" cy="1325880"/>
          </a:xfrm>
          <a:prstGeom prst="roundRect">
            <a:avLst/>
          </a:prstGeom>
          <a:solidFill>
            <a:srgbClr val="10243E"/>
          </a:solidFill>
          <a:ln>
            <a:solidFill>
              <a:srgbClr val="10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F1ED"/>
                </a:solidFill>
                <a:latin typeface="Aptos"/>
              </a:rPr>
              <a:t>ONE SAMPLE REQUIREMENT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4645152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49A3F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617720"/>
            <a:ext cx="2240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F1ED"/>
                </a:solidFill>
                <a:latin typeface="Aptos"/>
              </a:rPr>
              <a:t>BRD + BACKLOG +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4645152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49A3F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5312" y="4617720"/>
            <a:ext cx="2331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F1ED"/>
                </a:solidFill>
                <a:latin typeface="Aptos"/>
              </a:rPr>
              <a:t>CODE + REVIEW + SANITY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4645152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49A3F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4617720"/>
            <a:ext cx="2423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F1ED"/>
                </a:solidFill>
                <a:latin typeface="Aptos"/>
              </a:rPr>
              <a:t>QA HANDOFF + LINEAGE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47488"/>
            <a:ext cx="10058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Aptos"/>
              </a:rPr>
              <a:t>Self-contained local generation via Ollama, with deterministic template fallbacks and mock integrations.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28816"/>
            <a:ext cx="10241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1919E"/>
                </a:solidFill>
                <a:latin typeface="Aptos"/>
              </a:rPr>
              <a:t>SDLC Agentic Framework  |  End-to-End New Feature Development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528816"/>
            <a:ext cx="548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81919E"/>
                </a:solidFill>
                <a:latin typeface="Aptos"/>
              </a:rPr>
              <a:t>CMT-02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56F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Aptos"/>
              </a:rPr>
              <a:t>Every handoff is a chance to lose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0972800" cy="22860"/>
          </a:xfrm>
          <a:prstGeom prst="rect">
            <a:avLst/>
          </a:prstGeom>
          <a:solidFill>
            <a:srgbClr val="D8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08760"/>
            <a:ext cx="658368" cy="658368"/>
          </a:xfrm>
          <a:prstGeom prst="ellipse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6583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04288"/>
            <a:ext cx="14447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0243E"/>
                </a:solidFill>
                <a:latin typeface="Aptos"/>
              </a:rPr>
              <a:t>Requirement</a:t>
            </a:r>
          </a:p>
        </p:txBody>
      </p:sp>
      <p:sp>
        <p:nvSpPr>
          <p:cNvPr id="9" name="Chevron 8"/>
          <p:cNvSpPr/>
          <p:nvPr/>
        </p:nvSpPr>
        <p:spPr>
          <a:xfrm>
            <a:off x="2039112" y="1682496"/>
            <a:ext cx="420624" cy="310896"/>
          </a:xfrm>
          <a:prstGeom prst="chevron">
            <a:avLst/>
          </a:prstGeom>
          <a:solidFill>
            <a:srgbClr val="BFCBD2"/>
          </a:solidFill>
          <a:ln>
            <a:solidFill>
              <a:srgbClr val="BFC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9384" y="2057400"/>
            <a:ext cx="6583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C95757"/>
                </a:solidFill>
                <a:latin typeface="Aptos"/>
              </a:rPr>
              <a:t>context</a:t>
            </a:r>
            <a:br/>
            <a:r>
              <a:t>leak</a:t>
            </a:r>
          </a:p>
        </p:txBody>
      </p:sp>
      <p:sp>
        <p:nvSpPr>
          <p:cNvPr id="11" name="Oval 10"/>
          <p:cNvSpPr/>
          <p:nvPr/>
        </p:nvSpPr>
        <p:spPr>
          <a:xfrm>
            <a:off x="2852928" y="1508760"/>
            <a:ext cx="658368" cy="658368"/>
          </a:xfrm>
          <a:prstGeom prst="ellipse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1719072"/>
            <a:ext cx="6583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304288"/>
            <a:ext cx="14447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0243E"/>
                </a:solidFill>
                <a:latin typeface="Aptos"/>
              </a:rPr>
              <a:t>Backlog</a:t>
            </a:r>
          </a:p>
        </p:txBody>
      </p:sp>
      <p:sp>
        <p:nvSpPr>
          <p:cNvPr id="14" name="Chevron 13"/>
          <p:cNvSpPr/>
          <p:nvPr/>
        </p:nvSpPr>
        <p:spPr>
          <a:xfrm>
            <a:off x="3886200" y="1682496"/>
            <a:ext cx="420624" cy="310896"/>
          </a:xfrm>
          <a:prstGeom prst="chevron">
            <a:avLst/>
          </a:prstGeom>
          <a:solidFill>
            <a:srgbClr val="BFCBD2"/>
          </a:solidFill>
          <a:ln>
            <a:solidFill>
              <a:srgbClr val="BFC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2057400"/>
            <a:ext cx="6583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C95757"/>
                </a:solidFill>
                <a:latin typeface="Aptos"/>
              </a:rPr>
              <a:t>context</a:t>
            </a:r>
            <a:br/>
            <a:r>
              <a:t>leak</a:t>
            </a:r>
          </a:p>
        </p:txBody>
      </p:sp>
      <p:sp>
        <p:nvSpPr>
          <p:cNvPr id="16" name="Oval 15"/>
          <p:cNvSpPr/>
          <p:nvPr/>
        </p:nvSpPr>
        <p:spPr>
          <a:xfrm>
            <a:off x="4700016" y="1508760"/>
            <a:ext cx="658368" cy="658368"/>
          </a:xfrm>
          <a:prstGeom prst="ellipse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1719072"/>
            <a:ext cx="6583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304288"/>
            <a:ext cx="14447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0243E"/>
                </a:solidFill>
                <a:latin typeface="Aptos"/>
              </a:rPr>
              <a:t>Code</a:t>
            </a:r>
          </a:p>
        </p:txBody>
      </p:sp>
      <p:sp>
        <p:nvSpPr>
          <p:cNvPr id="19" name="Chevron 18"/>
          <p:cNvSpPr/>
          <p:nvPr/>
        </p:nvSpPr>
        <p:spPr>
          <a:xfrm>
            <a:off x="5733288" y="1682496"/>
            <a:ext cx="420624" cy="310896"/>
          </a:xfrm>
          <a:prstGeom prst="chevron">
            <a:avLst/>
          </a:prstGeom>
          <a:solidFill>
            <a:srgbClr val="BFCBD2"/>
          </a:solidFill>
          <a:ln>
            <a:solidFill>
              <a:srgbClr val="BFC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59" y="2057400"/>
            <a:ext cx="6583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C95757"/>
                </a:solidFill>
                <a:latin typeface="Aptos"/>
              </a:rPr>
              <a:t>context</a:t>
            </a:r>
            <a:br/>
            <a:r>
              <a:t>leak</a:t>
            </a:r>
          </a:p>
        </p:txBody>
      </p:sp>
      <p:sp>
        <p:nvSpPr>
          <p:cNvPr id="21" name="Oval 20"/>
          <p:cNvSpPr/>
          <p:nvPr/>
        </p:nvSpPr>
        <p:spPr>
          <a:xfrm>
            <a:off x="6547104" y="1508760"/>
            <a:ext cx="658368" cy="658368"/>
          </a:xfrm>
          <a:prstGeom prst="ellipse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1719072"/>
            <a:ext cx="6583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REV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6" y="2304288"/>
            <a:ext cx="14447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0243E"/>
                </a:solidFill>
                <a:latin typeface="Aptos"/>
              </a:rPr>
              <a:t>Review</a:t>
            </a:r>
          </a:p>
        </p:txBody>
      </p:sp>
      <p:sp>
        <p:nvSpPr>
          <p:cNvPr id="24" name="Chevron 23"/>
          <p:cNvSpPr/>
          <p:nvPr/>
        </p:nvSpPr>
        <p:spPr>
          <a:xfrm>
            <a:off x="7580376" y="1682496"/>
            <a:ext cx="420624" cy="310896"/>
          </a:xfrm>
          <a:prstGeom prst="chevron">
            <a:avLst/>
          </a:prstGeom>
          <a:solidFill>
            <a:srgbClr val="BFCBD2"/>
          </a:solidFill>
          <a:ln>
            <a:solidFill>
              <a:srgbClr val="BFC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2057400"/>
            <a:ext cx="6583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C95757"/>
                </a:solidFill>
                <a:latin typeface="Aptos"/>
              </a:rPr>
              <a:t>context</a:t>
            </a:r>
            <a:br/>
            <a:r>
              <a:t>leak</a:t>
            </a:r>
          </a:p>
        </p:txBody>
      </p:sp>
      <p:sp>
        <p:nvSpPr>
          <p:cNvPr id="26" name="Oval 25"/>
          <p:cNvSpPr/>
          <p:nvPr/>
        </p:nvSpPr>
        <p:spPr>
          <a:xfrm>
            <a:off x="8394192" y="1508760"/>
            <a:ext cx="658368" cy="658368"/>
          </a:xfrm>
          <a:prstGeom prst="ellipse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1719072"/>
            <a:ext cx="6583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2304288"/>
            <a:ext cx="14447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0243E"/>
                </a:solidFill>
                <a:latin typeface="Aptos"/>
              </a:rPr>
              <a:t>Test</a:t>
            </a:r>
          </a:p>
        </p:txBody>
      </p:sp>
      <p:sp>
        <p:nvSpPr>
          <p:cNvPr id="29" name="Chevron 28"/>
          <p:cNvSpPr/>
          <p:nvPr/>
        </p:nvSpPr>
        <p:spPr>
          <a:xfrm>
            <a:off x="9427464" y="1682496"/>
            <a:ext cx="420624" cy="310896"/>
          </a:xfrm>
          <a:prstGeom prst="chevron">
            <a:avLst/>
          </a:prstGeom>
          <a:solidFill>
            <a:srgbClr val="BFCBD2"/>
          </a:solidFill>
          <a:ln>
            <a:solidFill>
              <a:srgbClr val="BFC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57400"/>
            <a:ext cx="6583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C95757"/>
                </a:solidFill>
                <a:latin typeface="Aptos"/>
              </a:rPr>
              <a:t>context</a:t>
            </a:r>
            <a:br/>
            <a:r>
              <a:t>leak</a:t>
            </a:r>
          </a:p>
        </p:txBody>
      </p:sp>
      <p:sp>
        <p:nvSpPr>
          <p:cNvPr id="31" name="Oval 30"/>
          <p:cNvSpPr/>
          <p:nvPr/>
        </p:nvSpPr>
        <p:spPr>
          <a:xfrm>
            <a:off x="10241280" y="1508760"/>
            <a:ext cx="658368" cy="658368"/>
          </a:xfrm>
          <a:prstGeom prst="ellipse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1719072"/>
            <a:ext cx="6583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REL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2304288"/>
            <a:ext cx="14447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0243E"/>
                </a:solidFill>
                <a:latin typeface="Aptos"/>
              </a:rPr>
              <a:t>Release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3063240"/>
            <a:ext cx="110185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3401568"/>
            <a:ext cx="3291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9A3F"/>
                </a:solidFill>
                <a:latin typeface="Aptos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383280"/>
            <a:ext cx="1920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REWORK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3977639"/>
            <a:ext cx="23317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Decisions are rediscovered or reinterpreted.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28416" y="3383280"/>
            <a:ext cx="18288" cy="1325880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84448" y="3401568"/>
            <a:ext cx="3291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9A3F"/>
                </a:solidFill>
                <a:latin typeface="Aptos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3383280"/>
            <a:ext cx="1920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GAPS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4448" y="3977639"/>
            <a:ext cx="23317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Acceptance criteria do not consistently reach code and tests.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71616" y="3383280"/>
            <a:ext cx="18288" cy="1325880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3401568"/>
            <a:ext cx="3291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9A3F"/>
                </a:solidFill>
                <a:latin typeface="Aptos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3383280"/>
            <a:ext cx="1920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VARIANCE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3977639"/>
            <a:ext cx="23317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Reviews depend on individual practice and available context.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14816" y="3383280"/>
            <a:ext cx="18288" cy="1325880"/>
          </a:xfrm>
          <a:prstGeom prst="rect">
            <a:avLst/>
          </a:prstGeom>
          <a:solidFill>
            <a:srgbClr val="D8E1E6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0848" y="3401568"/>
            <a:ext cx="3291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9A3F"/>
                </a:solidFill>
                <a:latin typeface="Aptos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3383280"/>
            <a:ext cx="1920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AMNESIA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0848" y="3977639"/>
            <a:ext cx="23317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Defects and release lessons are hard to reuse.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596128"/>
            <a:ext cx="10698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243E"/>
                </a:solidFill>
                <a:latin typeface="Aptos"/>
              </a:rPr>
              <a:t>Root cause: no connected lineage from requirement decision → delivery artifact → validation evidence.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28816"/>
            <a:ext cx="10241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1919E"/>
                </a:solidFill>
                <a:latin typeface="Aptos"/>
              </a:rPr>
              <a:t>SDLC Agentic Framework  |  End-to-End New Feature Development Automation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18520" y="6528816"/>
            <a:ext cx="548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81919E"/>
                </a:solidFill>
                <a:latin typeface="Aptos"/>
              </a:rPr>
              <a:t>CMT-02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56F"/>
                </a:solidFill>
                <a:latin typeface="Aptos"/>
              </a:rPr>
              <a:t>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Aptos"/>
              </a:rPr>
              <a:t>Six stages convert intent into reusable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0972800" cy="22860"/>
          </a:xfrm>
          <a:prstGeom prst="rect">
            <a:avLst/>
          </a:prstGeom>
          <a:solidFill>
            <a:srgbClr val="D8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1874519"/>
            <a:ext cx="1591056" cy="1170432"/>
          </a:xfrm>
          <a:prstGeom prst="roundRect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2011680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331720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660904"/>
            <a:ext cx="13533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FE2EA"/>
                </a:solidFill>
                <a:latin typeface="Aptos"/>
              </a:rPr>
              <a:t>Normalize</a:t>
            </a:r>
          </a:p>
        </p:txBody>
      </p:sp>
      <p:sp>
        <p:nvSpPr>
          <p:cNvPr id="10" name="Chevron 9"/>
          <p:cNvSpPr/>
          <p:nvPr/>
        </p:nvSpPr>
        <p:spPr>
          <a:xfrm>
            <a:off x="2075688" y="2240280"/>
            <a:ext cx="256032" cy="384048"/>
          </a:xfrm>
          <a:prstGeom prst="chevron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40864" y="1874519"/>
            <a:ext cx="1591056" cy="1170432"/>
          </a:xfrm>
          <a:prstGeom prst="roundRect">
            <a:avLst/>
          </a:prstGeom>
          <a:solidFill>
            <a:srgbClr val="10243E"/>
          </a:solidFill>
          <a:ln>
            <a:solidFill>
              <a:srgbClr val="10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9736" y="2011680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9A3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9736" y="2331720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2660904"/>
            <a:ext cx="13533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FE2EA"/>
                </a:solidFill>
                <a:latin typeface="Aptos"/>
              </a:rPr>
              <a:t>Clarify</a:t>
            </a:r>
          </a:p>
        </p:txBody>
      </p:sp>
      <p:sp>
        <p:nvSpPr>
          <p:cNvPr id="15" name="Chevron 14"/>
          <p:cNvSpPr/>
          <p:nvPr/>
        </p:nvSpPr>
        <p:spPr>
          <a:xfrm>
            <a:off x="3977639" y="2240280"/>
            <a:ext cx="256032" cy="384048"/>
          </a:xfrm>
          <a:prstGeom prst="chevron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42816" y="1874519"/>
            <a:ext cx="1591056" cy="1170432"/>
          </a:xfrm>
          <a:prstGeom prst="roundRect">
            <a:avLst/>
          </a:prstGeom>
          <a:solidFill>
            <a:srgbClr val="10243E"/>
          </a:solidFill>
          <a:ln>
            <a:solidFill>
              <a:srgbClr val="10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2011680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9A3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331720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2660904"/>
            <a:ext cx="13533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FE2EA"/>
                </a:solidFill>
                <a:latin typeface="Aptos"/>
              </a:rPr>
              <a:t>BRD • Stories</a:t>
            </a:r>
          </a:p>
        </p:txBody>
      </p:sp>
      <p:sp>
        <p:nvSpPr>
          <p:cNvPr id="20" name="Chevron 19"/>
          <p:cNvSpPr/>
          <p:nvPr/>
        </p:nvSpPr>
        <p:spPr>
          <a:xfrm>
            <a:off x="5879592" y="2240280"/>
            <a:ext cx="256032" cy="384048"/>
          </a:xfrm>
          <a:prstGeom prst="chevron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44768" y="1874519"/>
            <a:ext cx="1591056" cy="1170432"/>
          </a:xfrm>
          <a:prstGeom prst="roundRect">
            <a:avLst/>
          </a:prstGeom>
          <a:solidFill>
            <a:srgbClr val="10243E"/>
          </a:solidFill>
          <a:ln>
            <a:solidFill>
              <a:srgbClr val="10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011680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9A3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331720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660904"/>
            <a:ext cx="13533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FE2EA"/>
                </a:solidFill>
                <a:latin typeface="Aptos"/>
              </a:rPr>
              <a:t>Code • Git</a:t>
            </a:r>
          </a:p>
        </p:txBody>
      </p:sp>
      <p:sp>
        <p:nvSpPr>
          <p:cNvPr id="25" name="Chevron 24"/>
          <p:cNvSpPr/>
          <p:nvPr/>
        </p:nvSpPr>
        <p:spPr>
          <a:xfrm>
            <a:off x="7781544" y="2240280"/>
            <a:ext cx="256032" cy="384048"/>
          </a:xfrm>
          <a:prstGeom prst="chevron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20" y="1874519"/>
            <a:ext cx="1591056" cy="1170432"/>
          </a:xfrm>
          <a:prstGeom prst="roundRect">
            <a:avLst/>
          </a:prstGeom>
          <a:solidFill>
            <a:srgbClr val="10243E"/>
          </a:solidFill>
          <a:ln>
            <a:solidFill>
              <a:srgbClr val="10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2011680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49A3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331720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2660904"/>
            <a:ext cx="13533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FE2EA"/>
                </a:solidFill>
                <a:latin typeface="Aptos"/>
              </a:rPr>
              <a:t>Review • Sanity</a:t>
            </a:r>
          </a:p>
        </p:txBody>
      </p:sp>
      <p:sp>
        <p:nvSpPr>
          <p:cNvPr id="30" name="Chevron 29"/>
          <p:cNvSpPr/>
          <p:nvPr/>
        </p:nvSpPr>
        <p:spPr>
          <a:xfrm>
            <a:off x="9683496" y="2240280"/>
            <a:ext cx="256032" cy="384048"/>
          </a:xfrm>
          <a:prstGeom prst="chevron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48672" y="1874519"/>
            <a:ext cx="1591056" cy="1170432"/>
          </a:xfrm>
          <a:prstGeom prst="roundRect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67544" y="2011680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2331720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67544" y="2660904"/>
            <a:ext cx="13533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FE2EA"/>
                </a:solidFill>
                <a:latin typeface="Aptos"/>
              </a:rPr>
              <a:t>Release • Memory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3657600"/>
            <a:ext cx="9966960" cy="749808"/>
          </a:xfrm>
          <a:prstGeom prst="roundRect">
            <a:avLst/>
          </a:prstGeom>
          <a:solidFill>
            <a:srgbClr val="D9F1ED"/>
          </a:solidFill>
          <a:ln>
            <a:solidFill>
              <a:srgbClr val="D9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3822191"/>
            <a:ext cx="2240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56F"/>
                </a:solidFill>
                <a:latin typeface="Aptos"/>
              </a:rPr>
              <a:t>HUMAN-IN-THE-LOOP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3803904"/>
            <a:ext cx="1554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0243E"/>
                </a:solidFill>
                <a:latin typeface="Aptos"/>
              </a:rPr>
              <a:t>Scope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0368" y="3776472"/>
            <a:ext cx="228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49A3F"/>
                </a:solidFill>
                <a:latin typeface="Apto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803904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0243E"/>
                </a:solidFill>
                <a:latin typeface="Aptos"/>
              </a:rPr>
              <a:t>BRD sign-off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3776472"/>
            <a:ext cx="228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49A3F"/>
                </a:solidFill>
                <a:latin typeface="Apto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6912" y="3803904"/>
            <a:ext cx="1783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0243E"/>
                </a:solidFill>
                <a:latin typeface="Aptos"/>
              </a:rPr>
              <a:t>Code-plan approval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776472"/>
            <a:ext cx="228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49A3F"/>
                </a:solidFill>
                <a:latin typeface="Aptos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8" y="3803904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0243E"/>
                </a:solidFill>
                <a:latin typeface="Aptos"/>
              </a:rPr>
              <a:t>Release readiness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4919472"/>
            <a:ext cx="100584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243E"/>
                </a:solidFill>
                <a:latin typeface="Aptos"/>
              </a:rPr>
              <a:t>Knowledge graph context enters before planning—and the completed lineage returns after handoff.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28816"/>
            <a:ext cx="10241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1919E"/>
                </a:solidFill>
                <a:latin typeface="Aptos"/>
              </a:rPr>
              <a:t>SDLC Agentic Framework  |  End-to-End New Feature Development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8520" y="6528816"/>
            <a:ext cx="548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81919E"/>
                </a:solidFill>
                <a:latin typeface="Aptos"/>
              </a:rPr>
              <a:t>CMT-02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56F"/>
                </a:solidFill>
                <a:latin typeface="Aptos"/>
              </a:rPr>
              <a:t>AGENT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Aptos"/>
              </a:rPr>
              <a:t>Eleven agents, each with a narrow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0972800" cy="22860"/>
          </a:xfrm>
          <a:prstGeom prst="rect">
            <a:avLst/>
          </a:prstGeom>
          <a:solidFill>
            <a:srgbClr val="D8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3776" y="1481328"/>
            <a:ext cx="162763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" y="1481328"/>
            <a:ext cx="1627632" cy="91440"/>
          </a:xfrm>
          <a:prstGeom prst="rect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682496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9A3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011680"/>
            <a:ext cx="14081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450592"/>
            <a:ext cx="140817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Structure 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86584" y="1481328"/>
            <a:ext cx="162763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86584" y="1481328"/>
            <a:ext cx="1627632" cy="91440"/>
          </a:xfrm>
          <a:prstGeom prst="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1682496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9A3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011680"/>
            <a:ext cx="14081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2450592"/>
            <a:ext cx="140817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Retrieve 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1481328"/>
            <a:ext cx="162763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481328"/>
            <a:ext cx="1627632" cy="91440"/>
          </a:xfrm>
          <a:prstGeom prst="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682496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9A3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011680"/>
            <a:ext cx="14081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Clarification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450592"/>
            <a:ext cx="140817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Resolve ambiguity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199" y="1481328"/>
            <a:ext cx="162763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199" y="1481328"/>
            <a:ext cx="1627632" cy="91440"/>
          </a:xfrm>
          <a:prstGeom prst="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7" y="1682496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9A3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7" y="2011680"/>
            <a:ext cx="14081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BRD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7" y="2450592"/>
            <a:ext cx="140817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Version requirements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1481328"/>
            <a:ext cx="162763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1481328"/>
            <a:ext cx="1627632" cy="91440"/>
          </a:xfrm>
          <a:prstGeom prst="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1682496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9A3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2011680"/>
            <a:ext cx="14081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2450592"/>
            <a:ext cx="140817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Decompose backlog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57816" y="1481328"/>
            <a:ext cx="162763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57816" y="1481328"/>
            <a:ext cx="1627632" cy="91440"/>
          </a:xfrm>
          <a:prstGeom prst="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67544" y="1682496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9A3F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67544" y="2011680"/>
            <a:ext cx="14081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67544" y="2450592"/>
            <a:ext cx="140817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Sequence delivery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89888" y="3419856"/>
            <a:ext cx="162763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89888" y="3419856"/>
            <a:ext cx="1627632" cy="91440"/>
          </a:xfrm>
          <a:prstGeom prst="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9616" y="3621024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9A3F"/>
                </a:solidFill>
                <a:latin typeface="Apto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99616" y="3950208"/>
            <a:ext cx="14081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99616" y="4389120"/>
            <a:ext cx="140817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Plan + implement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82696" y="3419856"/>
            <a:ext cx="162763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82696" y="3419856"/>
            <a:ext cx="1627632" cy="91440"/>
          </a:xfrm>
          <a:prstGeom prst="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92424" y="3621024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9A3F"/>
                </a:solidFill>
                <a:latin typeface="Aptos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92424" y="3950208"/>
            <a:ext cx="14081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Git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92424" y="4389120"/>
            <a:ext cx="140817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Control source trail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75504" y="3419856"/>
            <a:ext cx="162763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175504" y="3419856"/>
            <a:ext cx="1627632" cy="91440"/>
          </a:xfrm>
          <a:prstGeom prst="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85232" y="3621024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9A3F"/>
                </a:solidFill>
                <a:latin typeface="Aptos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85232" y="3950208"/>
            <a:ext cx="14081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85232" y="4389120"/>
            <a:ext cx="140817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Check against intent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68311" y="3419856"/>
            <a:ext cx="162763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68311" y="3419856"/>
            <a:ext cx="1627632" cy="91440"/>
          </a:xfrm>
          <a:prstGeom prst="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39" y="3621024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9A3F"/>
                </a:solidFill>
                <a:latin typeface="Aptos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39" y="3950208"/>
            <a:ext cx="14081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Sanity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8039" y="4389120"/>
            <a:ext cx="140817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Validate + defect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61120" y="3419856"/>
            <a:ext cx="162763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1120" y="3419856"/>
            <a:ext cx="1627632" cy="91440"/>
          </a:xfrm>
          <a:prstGeom prst="rect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70848" y="3621024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9A3F"/>
                </a:solidFill>
                <a:latin typeface="Aptos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70848" y="3950208"/>
            <a:ext cx="14081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Release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0848" y="4389120"/>
            <a:ext cx="140817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Package + remember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965960" y="5550408"/>
            <a:ext cx="8229600" cy="438912"/>
          </a:xfrm>
          <a:prstGeom prst="roundRect">
            <a:avLst/>
          </a:prstGeom>
          <a:solidFill>
            <a:srgbClr val="10243E"/>
          </a:solidFill>
          <a:ln>
            <a:solidFill>
              <a:srgbClr val="10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48840" y="5660136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Orchestrator passes one structured state forward; every agent adds artifacts, evidence, and status.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6528816"/>
            <a:ext cx="10241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1919E"/>
                </a:solidFill>
                <a:latin typeface="Aptos"/>
              </a:rPr>
              <a:t>SDLC Agentic Framework  |  End-to-End New Feature Development Automation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18520" y="6528816"/>
            <a:ext cx="548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81919E"/>
                </a:solidFill>
                <a:latin typeface="Aptos"/>
              </a:rPr>
              <a:t>CMT-02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F1ED"/>
                </a:solidFill>
                <a:latin typeface="Aptos"/>
              </a:rPr>
              <a:t>ARTIFACT LINEAGE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ptos"/>
              </a:rPr>
              <a:t>Traceability is the product—not a by-product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D9F1ED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0972800" cy="22860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" y="1828800"/>
            <a:ext cx="676656" cy="676656"/>
          </a:xfrm>
          <a:prstGeom prst="ellipse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029968"/>
            <a:ext cx="6766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697480"/>
            <a:ext cx="14813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072384"/>
            <a:ext cx="14813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FC1CD"/>
                </a:solidFill>
                <a:latin typeface="Aptos"/>
              </a:rPr>
              <a:t>intent + rules</a:t>
            </a:r>
          </a:p>
        </p:txBody>
      </p:sp>
      <p:sp>
        <p:nvSpPr>
          <p:cNvPr id="10" name="Chevron 9"/>
          <p:cNvSpPr/>
          <p:nvPr/>
        </p:nvSpPr>
        <p:spPr>
          <a:xfrm>
            <a:off x="1728216" y="1993392"/>
            <a:ext cx="320040" cy="347472"/>
          </a:xfrm>
          <a:prstGeom prst="chevron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50592" y="1828800"/>
            <a:ext cx="676656" cy="676656"/>
          </a:xfrm>
          <a:prstGeom prst="ellipse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2" y="2029968"/>
            <a:ext cx="6766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8256" y="2697480"/>
            <a:ext cx="14813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BRD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48256" y="3072384"/>
            <a:ext cx="14813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FC1CD"/>
                </a:solidFill>
                <a:latin typeface="Aptos"/>
              </a:rPr>
              <a:t>approved scope</a:t>
            </a:r>
          </a:p>
        </p:txBody>
      </p:sp>
      <p:sp>
        <p:nvSpPr>
          <p:cNvPr id="15" name="Chevron 14"/>
          <p:cNvSpPr/>
          <p:nvPr/>
        </p:nvSpPr>
        <p:spPr>
          <a:xfrm>
            <a:off x="3392424" y="1993392"/>
            <a:ext cx="320040" cy="347472"/>
          </a:xfrm>
          <a:prstGeom prst="chevron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14800" y="1828800"/>
            <a:ext cx="676656" cy="676656"/>
          </a:xfrm>
          <a:prstGeom prst="ellipse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029968"/>
            <a:ext cx="6766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4" y="2697480"/>
            <a:ext cx="14813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Story / 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3072384"/>
            <a:ext cx="14813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FC1CD"/>
                </a:solidFill>
                <a:latin typeface="Aptos"/>
              </a:rPr>
              <a:t>testable behavior</a:t>
            </a:r>
          </a:p>
        </p:txBody>
      </p:sp>
      <p:sp>
        <p:nvSpPr>
          <p:cNvPr id="20" name="Chevron 19"/>
          <p:cNvSpPr/>
          <p:nvPr/>
        </p:nvSpPr>
        <p:spPr>
          <a:xfrm>
            <a:off x="5056632" y="1993392"/>
            <a:ext cx="320040" cy="347472"/>
          </a:xfrm>
          <a:prstGeom prst="chevron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79008" y="1828800"/>
            <a:ext cx="676656" cy="676656"/>
          </a:xfrm>
          <a:prstGeom prst="ellipse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9008" y="2029968"/>
            <a:ext cx="6766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2697480"/>
            <a:ext cx="14813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3072384"/>
            <a:ext cx="14813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FC1CD"/>
                </a:solidFill>
                <a:latin typeface="Aptos"/>
              </a:rPr>
              <a:t>implementation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6720840" y="1993392"/>
            <a:ext cx="320040" cy="347472"/>
          </a:xfrm>
          <a:prstGeom prst="chevron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43216" y="1828800"/>
            <a:ext cx="676656" cy="676656"/>
          </a:xfrm>
          <a:prstGeom prst="ellipse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43216" y="2029968"/>
            <a:ext cx="6766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697480"/>
            <a:ext cx="14813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072384"/>
            <a:ext cx="14813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FC1CD"/>
                </a:solidFill>
                <a:latin typeface="Aptos"/>
              </a:rPr>
              <a:t>validation evidence</a:t>
            </a:r>
          </a:p>
        </p:txBody>
      </p:sp>
      <p:sp>
        <p:nvSpPr>
          <p:cNvPr id="30" name="Chevron 29"/>
          <p:cNvSpPr/>
          <p:nvPr/>
        </p:nvSpPr>
        <p:spPr>
          <a:xfrm>
            <a:off x="8385048" y="1993392"/>
            <a:ext cx="320040" cy="347472"/>
          </a:xfrm>
          <a:prstGeom prst="chevron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07424" y="1828800"/>
            <a:ext cx="676656" cy="676656"/>
          </a:xfrm>
          <a:prstGeom prst="ellipse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7424" y="2029968"/>
            <a:ext cx="6766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2697480"/>
            <a:ext cx="14813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Defect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05088" y="3072384"/>
            <a:ext cx="14813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FC1CD"/>
                </a:solidFill>
                <a:latin typeface="Aptos"/>
              </a:rPr>
              <a:t>failure record</a:t>
            </a:r>
          </a:p>
        </p:txBody>
      </p:sp>
      <p:sp>
        <p:nvSpPr>
          <p:cNvPr id="35" name="Chevron 34"/>
          <p:cNvSpPr/>
          <p:nvPr/>
        </p:nvSpPr>
        <p:spPr>
          <a:xfrm>
            <a:off x="10049256" y="1993392"/>
            <a:ext cx="320040" cy="347472"/>
          </a:xfrm>
          <a:prstGeom prst="chevron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71632" y="1828800"/>
            <a:ext cx="676656" cy="676656"/>
          </a:xfrm>
          <a:prstGeom prst="ellipse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71632" y="2029968"/>
            <a:ext cx="6766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9296" y="2697480"/>
            <a:ext cx="14813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QA handoff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9296" y="3072384"/>
            <a:ext cx="14813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FC1CD"/>
                </a:solidFill>
                <a:latin typeface="Aptos"/>
              </a:rPr>
              <a:t>release context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69080"/>
            <a:ext cx="10378440" cy="1078992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4370832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9F1ED"/>
                </a:solidFill>
                <a:latin typeface="Aptos"/>
              </a:rPr>
              <a:t>KNOWLEDGE GRAPH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4334256"/>
            <a:ext cx="7589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stores relationships • prior decisions • reusable patterns • release lessons</a:t>
            </a:r>
          </a:p>
        </p:txBody>
      </p:sp>
      <p:sp>
        <p:nvSpPr>
          <p:cNvPr id="43" name="Up Arrow 42"/>
          <p:cNvSpPr/>
          <p:nvPr/>
        </p:nvSpPr>
        <p:spPr>
          <a:xfrm>
            <a:off x="5833872" y="3456432"/>
            <a:ext cx="530352" cy="621792"/>
          </a:xfrm>
          <a:prstGeom prst="upArrow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74519" y="5559552"/>
            <a:ext cx="84582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D9F1ED"/>
                </a:solidFill>
                <a:latin typeface="Aptos"/>
              </a:rPr>
              <a:t>Each run begins with memory and ends by strengthening it.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28816"/>
            <a:ext cx="10241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1A7B7"/>
                </a:solidFill>
                <a:latin typeface="Aptos"/>
              </a:rPr>
              <a:t>SDLC Agentic Framework  |  End-to-End New Feature Development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8520" y="6528816"/>
            <a:ext cx="548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91A7B7"/>
                </a:solidFill>
                <a:latin typeface="Aptos"/>
              </a:rPr>
              <a:t>CMT-02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56F"/>
                </a:solidFill>
                <a:latin typeface="Aptos"/>
              </a:rPr>
              <a:t>WORKFLOW DEEP DIVE  |  STAGES 1–3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Aptos"/>
              </a:rPr>
              <a:t>Front-load clarity before generating delivery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0972800" cy="22860"/>
          </a:xfrm>
          <a:prstGeom prst="rect">
            <a:avLst/>
          </a:prstGeom>
          <a:solidFill>
            <a:srgbClr val="D8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0664" y="1655063"/>
            <a:ext cx="384048" cy="384048"/>
          </a:xfrm>
          <a:prstGeom prst="ellipse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700784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36776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243E"/>
                </a:solidFill>
                <a:latin typeface="Aptos"/>
              </a:rPr>
              <a:t>Requirement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30632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8756F"/>
                </a:solidFill>
                <a:latin typeface="Aptos"/>
              </a:rPr>
              <a:t>INTAKE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07208"/>
            <a:ext cx="3063240" cy="2715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Input: text, Excel, diagram, transcript</a:t>
            </a:r>
            <a:br/>
            <a:br/>
            <a:r>
              <a:t>Output: structured requirement with actors, rules, constraints, NFRs, dependencies, and open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17136" y="1655063"/>
            <a:ext cx="384048" cy="384048"/>
          </a:xfrm>
          <a:prstGeom prst="ellipse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700784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1636776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243E"/>
                </a:solidFill>
                <a:latin typeface="Aptos"/>
              </a:rPr>
              <a:t>Context + clarification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94560"/>
            <a:ext cx="30632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8756F"/>
                </a:solidFill>
                <a:latin typeface="Aptos"/>
              </a:rPr>
              <a:t>CONTEXT + CLARIFICATION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807208"/>
            <a:ext cx="3063240" cy="2715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Retrieve related BRDs, stories, modules, defects, notes, and prior decisions.</a:t>
            </a:r>
            <a:br/>
            <a:br/>
            <a:r>
              <a:t>Architect resolves scope, assumptions, and ambiguity.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2" y="1655063"/>
            <a:ext cx="384048" cy="384048"/>
          </a:xfrm>
          <a:prstGeom prst="ellipse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700784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1636776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243E"/>
                </a:solidFill>
                <a:latin typeface="Aptos"/>
              </a:rPr>
              <a:t>BRD + backlog + sprint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2194560"/>
            <a:ext cx="30632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8756F"/>
                </a:solidFill>
                <a:latin typeface="Aptos"/>
              </a:rPr>
              <a:t>BRD + STORY + PLAN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807208"/>
            <a:ext cx="3063240" cy="2715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Versioned BRD with confidence scores.</a:t>
            </a:r>
            <a:br/>
            <a:br/>
            <a:r>
              <a:t>Epics, stories, subtasks, GWT acceptance criteria, estimates, dependencies, sequencing, risks.</a:t>
            </a:r>
          </a:p>
        </p:txBody>
      </p:sp>
      <p:sp>
        <p:nvSpPr>
          <p:cNvPr id="24" name="Chevron 23"/>
          <p:cNvSpPr/>
          <p:nvPr/>
        </p:nvSpPr>
        <p:spPr>
          <a:xfrm>
            <a:off x="4041648" y="3136392"/>
            <a:ext cx="292608" cy="475488"/>
          </a:xfrm>
          <a:prstGeom prst="chevron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7827264" y="3136392"/>
            <a:ext cx="292608" cy="475488"/>
          </a:xfrm>
          <a:prstGeom prst="chevron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43984" y="5129784"/>
            <a:ext cx="1481328" cy="292608"/>
          </a:xfrm>
          <a:prstGeom prst="roundRect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9704" y="5157216"/>
            <a:ext cx="1389888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HITL: SCOPE LOCK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74352" y="5129784"/>
            <a:ext cx="1627632" cy="292608"/>
          </a:xfrm>
          <a:prstGeom prst="roundRect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0072" y="5157216"/>
            <a:ext cx="1536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HITL: BRD SIGN-OFF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28816"/>
            <a:ext cx="10241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1919E"/>
                </a:solidFill>
                <a:latin typeface="Aptos"/>
              </a:rPr>
              <a:t>SDLC Agentic Framework  |  End-to-End New Feature Development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528816"/>
            <a:ext cx="548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81919E"/>
                </a:solidFill>
                <a:latin typeface="Aptos"/>
              </a:rPr>
              <a:t>CMT-02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56F"/>
                </a:solidFill>
                <a:latin typeface="Aptos"/>
              </a:rPr>
              <a:t>WORKFLOW DEEP DIVE  |  STAGES 4–6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Aptos"/>
              </a:rPr>
              <a:t>Separate design intent, execution,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0972800" cy="22860"/>
          </a:xfrm>
          <a:prstGeom prst="rect">
            <a:avLst/>
          </a:prstGeom>
          <a:solidFill>
            <a:srgbClr val="D8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0664" y="1655063"/>
            <a:ext cx="384048" cy="384048"/>
          </a:xfrm>
          <a:prstGeom prst="ellipse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700784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36776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243E"/>
                </a:solidFill>
                <a:latin typeface="Aptos"/>
              </a:rPr>
              <a:t>Code + Git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30632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8756F"/>
                </a:solidFill>
                <a:latin typeface="Aptos"/>
              </a:rPr>
              <a:t>CODE + GIT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07208"/>
            <a:ext cx="3063240" cy="2715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Two-step flow: code plan first, implementation and unit tests after approval.</a:t>
            </a:r>
            <a:br/>
            <a:br/>
            <a:r>
              <a:t>Branch, commit, push, pull request, and conflict assistance create a controlled source trail.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17136" y="1655063"/>
            <a:ext cx="384048" cy="384048"/>
          </a:xfrm>
          <a:prstGeom prst="ellipse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700784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1636776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243E"/>
                </a:solidFill>
                <a:latin typeface="Aptos"/>
              </a:rPr>
              <a:t>Review + sanity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94560"/>
            <a:ext cx="30632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8756F"/>
                </a:solidFill>
                <a:latin typeface="Aptos"/>
              </a:rPr>
              <a:t>REVIEW + SANITY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807208"/>
            <a:ext cx="3063240" cy="2715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Evaluate code against the BRD and every acceptance criterion.</a:t>
            </a:r>
            <a:br/>
            <a:br/>
            <a:r>
              <a:t>Run or simulate tests, map results to criteria, and create structured defects for failures.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2" y="1655063"/>
            <a:ext cx="384048" cy="384048"/>
          </a:xfrm>
          <a:prstGeom prst="ellipse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700784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1636776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243E"/>
                </a:solidFill>
                <a:latin typeface="Aptos"/>
              </a:rPr>
              <a:t>Release +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2194560"/>
            <a:ext cx="30632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8756F"/>
                </a:solidFill>
                <a:latin typeface="Aptos"/>
              </a:rPr>
              <a:t>RELEASE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807208"/>
            <a:ext cx="3063240" cy="2715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Package release notes and QA handoff: changed, tested, open, and risky.</a:t>
            </a:r>
            <a:br/>
            <a:br/>
            <a:r>
              <a:t>Write the full lineage back to the knowledge graph for future reuse.</a:t>
            </a:r>
          </a:p>
        </p:txBody>
      </p:sp>
      <p:sp>
        <p:nvSpPr>
          <p:cNvPr id="24" name="Chevron 23"/>
          <p:cNvSpPr/>
          <p:nvPr/>
        </p:nvSpPr>
        <p:spPr>
          <a:xfrm>
            <a:off x="4041648" y="3136392"/>
            <a:ext cx="292608" cy="475488"/>
          </a:xfrm>
          <a:prstGeom prst="chevron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7827264" y="3136392"/>
            <a:ext cx="292608" cy="475488"/>
          </a:xfrm>
          <a:prstGeom prst="chevron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444752" y="5129784"/>
            <a:ext cx="1874519" cy="292608"/>
          </a:xfrm>
          <a:prstGeom prst="roundRect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90472" y="5157216"/>
            <a:ext cx="178307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HITL: CODE-PLAN APPROVAL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9408" y="5129784"/>
            <a:ext cx="1783080" cy="292608"/>
          </a:xfrm>
          <a:prstGeom prst="roundRect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25128" y="5157216"/>
            <a:ext cx="169163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HITL: RELEASE READINESS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28816"/>
            <a:ext cx="10241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1919E"/>
                </a:solidFill>
                <a:latin typeface="Aptos"/>
              </a:rPr>
              <a:t>SDLC Agentic Framework  |  End-to-End New Feature Development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528816"/>
            <a:ext cx="548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81919E"/>
                </a:solidFill>
                <a:latin typeface="Aptos"/>
              </a:rPr>
              <a:t>CMT-02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56F"/>
                </a:solidFill>
                <a:latin typeface="Aptos"/>
              </a:rPr>
              <a:t>EXPECTED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Aptos"/>
              </a:rPr>
              <a:t>The run produces a governed artifact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0972800" cy="22860"/>
          </a:xfrm>
          <a:prstGeom prst="rect">
            <a:avLst/>
          </a:prstGeom>
          <a:solidFill>
            <a:srgbClr val="D8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53492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1591056"/>
            <a:ext cx="512064" cy="512064"/>
          </a:xfrm>
          <a:prstGeom prst="roundRect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55648"/>
            <a:ext cx="51206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572768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243E"/>
                </a:solidFill>
                <a:latin typeface="Aptos"/>
              </a:rPr>
              <a:t>Requirement object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29384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assumptions • constraints • dependencies •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44752"/>
            <a:ext cx="53492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1928" y="1591056"/>
            <a:ext cx="512064" cy="512064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755648"/>
            <a:ext cx="51206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1572768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243E"/>
                </a:solidFill>
                <a:latin typeface="Aptos"/>
              </a:rPr>
              <a:t>Context pack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1929384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related artifacts • decisions • reusable patterns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606040"/>
            <a:ext cx="53492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8" y="2752344"/>
            <a:ext cx="512064" cy="512064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916936"/>
            <a:ext cx="51206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2734056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243E"/>
                </a:solidFill>
                <a:latin typeface="Aptos"/>
              </a:rPr>
              <a:t>Versioned BRD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090672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confidence scores • approved assumptions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606040"/>
            <a:ext cx="53492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81928" y="2752344"/>
            <a:ext cx="512064" cy="512064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2916936"/>
            <a:ext cx="51206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2734056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243E"/>
                </a:solidFill>
                <a:latin typeface="Aptos"/>
              </a:rPr>
              <a:t>Backlog package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090672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epics • stories • tasks • GWT criteria • estimates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67328"/>
            <a:ext cx="53492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" y="3913632"/>
            <a:ext cx="512064" cy="512064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078224"/>
            <a:ext cx="51206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3895344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243E"/>
                </a:solidFill>
                <a:latin typeface="Aptos"/>
              </a:rPr>
              <a:t>Delivery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251960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sequence • critical path • risks • readiness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767328"/>
            <a:ext cx="53492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1928" y="3913632"/>
            <a:ext cx="512064" cy="512064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4078224"/>
            <a:ext cx="51206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6872" y="3895344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243E"/>
                </a:solidFill>
                <a:latin typeface="Aptos"/>
              </a:rPr>
              <a:t>Engineering pack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4251960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code plan • implementation stub • unit-test mapping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928616"/>
            <a:ext cx="53492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04088" y="5074920"/>
            <a:ext cx="512064" cy="512064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39512"/>
            <a:ext cx="51206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9032" y="5056632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243E"/>
                </a:solidFill>
                <a:latin typeface="Aptos"/>
              </a:rPr>
              <a:t>Validation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99032" y="5413248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review findings • sanity results • defect tickets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928616"/>
            <a:ext cx="53492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81928" y="5074920"/>
            <a:ext cx="512064" cy="512064"/>
          </a:xfrm>
          <a:prstGeom prst="roundRect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1928" y="5239512"/>
            <a:ext cx="51206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76872" y="5056632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243E"/>
                </a:solidFill>
                <a:latin typeface="Aptos"/>
              </a:rPr>
              <a:t>Release + lineage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76872" y="5413248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release notes • QA handoff • knowledge graph update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28816"/>
            <a:ext cx="10241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1919E"/>
                </a:solidFill>
                <a:latin typeface="Aptos"/>
              </a:rPr>
              <a:t>SDLC Agentic Framework  |  End-to-End New Feature Development Automation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18520" y="6528816"/>
            <a:ext cx="548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81919E"/>
                </a:solidFill>
                <a:latin typeface="Aptos"/>
              </a:rPr>
              <a:t>CMT-02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56F"/>
                </a:solidFill>
                <a:latin typeface="Aptos"/>
              </a:rPr>
              <a:t>SUGGESTED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Aptos"/>
              </a:rPr>
              <a:t>A local-first, modular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0972800" cy="22860"/>
          </a:xfrm>
          <a:prstGeom prst="rect">
            <a:avLst/>
          </a:prstGeom>
          <a:solidFill>
            <a:srgbClr val="D8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41732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417320"/>
            <a:ext cx="1938528" cy="621792"/>
          </a:xfrm>
          <a:prstGeom prst="roundRect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1600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792" y="1563624"/>
            <a:ext cx="3566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43E"/>
                </a:solidFill>
                <a:latin typeface="Aptos"/>
              </a:rPr>
              <a:t>React / 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581912"/>
            <a:ext cx="4526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E6375"/>
                </a:solidFill>
                <a:latin typeface="Aptos"/>
              </a:rPr>
              <a:t>feature input • approvals • artifact 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212848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2212848"/>
            <a:ext cx="1938528" cy="621792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14016"/>
            <a:ext cx="1600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ORCHESTRATION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359152"/>
            <a:ext cx="3566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43E"/>
                </a:solidFill>
                <a:latin typeface="Aptos"/>
              </a:rPr>
              <a:t>Python / 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77440"/>
            <a:ext cx="4526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E6375"/>
                </a:solidFill>
                <a:latin typeface="Aptos"/>
              </a:rPr>
              <a:t>workflow state • routing • HITL gates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008376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3008376"/>
            <a:ext cx="1938528" cy="621792"/>
          </a:xfrm>
          <a:prstGeom prst="roundRect">
            <a:avLst/>
          </a:prstGeom>
          <a:solidFill>
            <a:srgbClr val="3378B9"/>
          </a:solidFill>
          <a:ln>
            <a:solidFill>
              <a:srgbClr val="337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09544"/>
            <a:ext cx="1600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AGENT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3154680"/>
            <a:ext cx="3566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43E"/>
                </a:solidFill>
                <a:latin typeface="Aptos"/>
              </a:rPr>
              <a:t>11 specialized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172968"/>
            <a:ext cx="4526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E6375"/>
                </a:solidFill>
                <a:latin typeface="Aptos"/>
              </a:rPr>
              <a:t>structured prompts • validation • templates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803904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3803904"/>
            <a:ext cx="1938528" cy="621792"/>
          </a:xfrm>
          <a:prstGeom prst="roundRect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05072"/>
            <a:ext cx="1600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7792" y="3950208"/>
            <a:ext cx="3566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43E"/>
                </a:solidFill>
                <a:latin typeface="Aptos"/>
              </a:rPr>
              <a:t>Ollama + local open-source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968496"/>
            <a:ext cx="4526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E6375"/>
                </a:solidFill>
                <a:latin typeface="Aptos"/>
              </a:rPr>
              <a:t>Hugging Face inference • deterministic fallback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99432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4599432"/>
            <a:ext cx="1938528" cy="621792"/>
          </a:xfrm>
          <a:prstGeom prst="roundRect">
            <a:avLst/>
          </a:prstGeom>
          <a:solidFill>
            <a:srgbClr val="08756F"/>
          </a:solidFill>
          <a:ln>
            <a:solidFill>
              <a:srgbClr val="087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1600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SYSTEMS OF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7792" y="4745736"/>
            <a:ext cx="3566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43E"/>
                </a:solidFill>
                <a:latin typeface="Aptos"/>
              </a:rPr>
              <a:t>Neo4j + GitHub / Azure DevOps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764024"/>
            <a:ext cx="4526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E6375"/>
                </a:solidFill>
                <a:latin typeface="Aptos"/>
              </a:rPr>
              <a:t>lineage • source control • backlog / 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532120"/>
            <a:ext cx="1051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PoC principle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5495544"/>
            <a:ext cx="92811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43E"/>
                </a:solidFill>
                <a:latin typeface="Aptos"/>
              </a:rPr>
              <a:t>No external LLM keys; mock connectors prove the workflow while preserving a path to enterprise integrations.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28816"/>
            <a:ext cx="10241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1919E"/>
                </a:solidFill>
                <a:latin typeface="Aptos"/>
              </a:rPr>
              <a:t>SDLC Agentic Framework  |  End-to-End New Feature Development 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528816"/>
            <a:ext cx="548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81919E"/>
                </a:solidFill>
                <a:latin typeface="Aptos"/>
              </a:rPr>
              <a:t>CMT-02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56F"/>
                </a:solidFill>
                <a:latin typeface="Aptos"/>
              </a:rPr>
              <a:t>HACKATHON SCOPE  |  2–3 HOURS BUILD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Aptos"/>
              </a:rPr>
              <a:t>A one-day PoC focused on the traceability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0972800" cy="22860"/>
          </a:xfrm>
          <a:prstGeom prst="rect">
            <a:avLst/>
          </a:prstGeom>
          <a:solidFill>
            <a:srgbClr val="D8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" y="2340864"/>
            <a:ext cx="9966960" cy="54864"/>
          </a:xfrm>
          <a:prstGeom prst="rect">
            <a:avLst/>
          </a:prstGeom>
          <a:solidFill>
            <a:srgbClr val="B9C8D0"/>
          </a:solidFill>
          <a:ln>
            <a:solidFill>
              <a:srgbClr val="B9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00:00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2084831"/>
            <a:ext cx="457200" cy="457200"/>
          </a:xfrm>
          <a:prstGeom prst="ellipse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0632"/>
            <a:ext cx="1371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243E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54680"/>
            <a:ext cx="13716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Sample feature</a:t>
            </a:r>
            <a:br/>
            <a:r>
              <a:t>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1" y="1508760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00:20</a:t>
            </a:r>
          </a:p>
        </p:txBody>
      </p:sp>
      <p:sp>
        <p:nvSpPr>
          <p:cNvPr id="12" name="Oval 11"/>
          <p:cNvSpPr/>
          <p:nvPr/>
        </p:nvSpPr>
        <p:spPr>
          <a:xfrm>
            <a:off x="2907791" y="2084831"/>
            <a:ext cx="457200" cy="457200"/>
          </a:xfrm>
          <a:prstGeom prst="ellipse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1" y="2770632"/>
            <a:ext cx="1371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243E"/>
                </a:solidFill>
                <a:latin typeface="Aptos"/>
              </a:rPr>
              <a:t>SHAPE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1" y="3154680"/>
            <a:ext cx="13716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Normalize +</a:t>
            </a:r>
            <a:br/>
            <a:r>
              <a:t>retrieve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1508760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00:45</a:t>
            </a:r>
          </a:p>
        </p:txBody>
      </p:sp>
      <p:sp>
        <p:nvSpPr>
          <p:cNvPr id="16" name="Oval 15"/>
          <p:cNvSpPr/>
          <p:nvPr/>
        </p:nvSpPr>
        <p:spPr>
          <a:xfrm>
            <a:off x="4764024" y="2084831"/>
            <a:ext cx="457200" cy="457200"/>
          </a:xfrm>
          <a:prstGeom prst="ellipse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2770632"/>
            <a:ext cx="1371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243E"/>
                </a:solidFill>
                <a:latin typeface="Aptos"/>
              </a:rP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3154680"/>
            <a:ext cx="13716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BRD + stories +</a:t>
            </a:r>
            <a:br/>
            <a:r>
              <a:t>sprint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1508760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01:25</a:t>
            </a:r>
          </a:p>
        </p:txBody>
      </p:sp>
      <p:sp>
        <p:nvSpPr>
          <p:cNvPr id="20" name="Oval 19"/>
          <p:cNvSpPr/>
          <p:nvPr/>
        </p:nvSpPr>
        <p:spPr>
          <a:xfrm>
            <a:off x="6620256" y="2084831"/>
            <a:ext cx="457200" cy="457200"/>
          </a:xfrm>
          <a:prstGeom prst="ellipse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2770632"/>
            <a:ext cx="1371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243E"/>
                </a:solidFill>
                <a:latin typeface="Aptos"/>
              </a:rP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6" y="3154680"/>
            <a:ext cx="13716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Code plan +</a:t>
            </a:r>
            <a:br/>
            <a:r>
              <a:t>implementation stub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1508760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02:05</a:t>
            </a:r>
          </a:p>
        </p:txBody>
      </p:sp>
      <p:sp>
        <p:nvSpPr>
          <p:cNvPr id="24" name="Oval 23"/>
          <p:cNvSpPr/>
          <p:nvPr/>
        </p:nvSpPr>
        <p:spPr>
          <a:xfrm>
            <a:off x="8476488" y="2084831"/>
            <a:ext cx="457200" cy="457200"/>
          </a:xfrm>
          <a:prstGeom prst="ellipse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9288" y="2770632"/>
            <a:ext cx="1371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243E"/>
                </a:solidFill>
                <a:latin typeface="Aptos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9288" y="3154680"/>
            <a:ext cx="13716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Review +</a:t>
            </a:r>
            <a:br/>
            <a:r>
              <a:t>sanity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1508760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02:35</a:t>
            </a:r>
          </a:p>
        </p:txBody>
      </p:sp>
      <p:sp>
        <p:nvSpPr>
          <p:cNvPr id="28" name="Oval 27"/>
          <p:cNvSpPr/>
          <p:nvPr/>
        </p:nvSpPr>
        <p:spPr>
          <a:xfrm>
            <a:off x="10332719" y="2084831"/>
            <a:ext cx="457200" cy="457200"/>
          </a:xfrm>
          <a:prstGeom prst="ellipse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19" y="2770632"/>
            <a:ext cx="1371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243E"/>
                </a:solidFill>
                <a:latin typeface="Aptos"/>
              </a:rPr>
              <a:t>HANDOFF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3154680"/>
            <a:ext cx="13716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QA summary +</a:t>
            </a:r>
            <a:br/>
            <a:r>
              <a:t>lineage 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" y="4251960"/>
            <a:ext cx="10515600" cy="1234440"/>
          </a:xfrm>
          <a:prstGeom prst="roundRect">
            <a:avLst/>
          </a:prstGeom>
          <a:solidFill>
            <a:srgbClr val="10243E"/>
          </a:solidFill>
          <a:ln>
            <a:solidFill>
              <a:srgbClr val="10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480560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F1ED"/>
                </a:solidFill>
                <a:latin typeface="Aptos"/>
              </a:rPr>
              <a:t>DEMO SUCCESS = THREE THINGS ARE VISIBLE</a:t>
            </a:r>
          </a:p>
        </p:txBody>
      </p:sp>
      <p:sp>
        <p:nvSpPr>
          <p:cNvPr id="33" name="Oval 32"/>
          <p:cNvSpPr/>
          <p:nvPr/>
        </p:nvSpPr>
        <p:spPr>
          <a:xfrm>
            <a:off x="4297680" y="4489704"/>
            <a:ext cx="292608" cy="292608"/>
          </a:xfrm>
          <a:prstGeom prst="ellipse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4553712"/>
            <a:ext cx="29260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1728" y="4517136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HITL decisions</a:t>
            </a:r>
          </a:p>
        </p:txBody>
      </p:sp>
      <p:sp>
        <p:nvSpPr>
          <p:cNvPr id="36" name="Oval 35"/>
          <p:cNvSpPr/>
          <p:nvPr/>
        </p:nvSpPr>
        <p:spPr>
          <a:xfrm>
            <a:off x="6446520" y="4489704"/>
            <a:ext cx="292608" cy="292608"/>
          </a:xfrm>
          <a:prstGeom prst="ellipse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553712"/>
            <a:ext cx="29260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4517136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end-to-end lineage</a:t>
            </a:r>
          </a:p>
        </p:txBody>
      </p:sp>
      <p:sp>
        <p:nvSpPr>
          <p:cNvPr id="39" name="Oval 38"/>
          <p:cNvSpPr/>
          <p:nvPr/>
        </p:nvSpPr>
        <p:spPr>
          <a:xfrm>
            <a:off x="8595360" y="4489704"/>
            <a:ext cx="292608" cy="292608"/>
          </a:xfrm>
          <a:prstGeom prst="ellipse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4553712"/>
            <a:ext cx="29260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408" y="4517136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reproducible local 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010912"/>
            <a:ext cx="9966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CBD6"/>
                </a:solidFill>
                <a:latin typeface="Aptos"/>
              </a:rPr>
              <a:t>Production integrations, scale, and model tuning remain outside the hackathon proof.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28816"/>
            <a:ext cx="10241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1919E"/>
                </a:solidFill>
                <a:latin typeface="Aptos"/>
              </a:rPr>
              <a:t>SDLC Agentic Framework  |  End-to-End New Feature Development Automation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18520" y="6528816"/>
            <a:ext cx="548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81919E"/>
                </a:solidFill>
                <a:latin typeface="Aptos"/>
              </a:rPr>
              <a:t>CMT-02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56F"/>
                </a:solidFill>
                <a:latin typeface="Aptos"/>
              </a:rP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Aptos"/>
              </a:rPr>
              <a:t>Measure the impact where context currently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0972800" cy="22860"/>
          </a:xfrm>
          <a:prstGeom prst="rect">
            <a:avLst/>
          </a:prstGeom>
          <a:solidFill>
            <a:srgbClr val="D8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3429000" cy="1810512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645920"/>
            <a:ext cx="1051560" cy="292608"/>
          </a:xfrm>
          <a:prstGeom prst="roundRect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73352"/>
            <a:ext cx="96011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48840"/>
            <a:ext cx="303580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Feature initiation lead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42616"/>
            <a:ext cx="303580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Requirement received → approved sprint-ready backlog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481328"/>
            <a:ext cx="3429000" cy="1810512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9704" y="1645920"/>
            <a:ext cx="1051560" cy="292608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673352"/>
            <a:ext cx="96011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148840"/>
            <a:ext cx="303580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Acceptance-criteria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642616"/>
            <a:ext cx="303580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Criteria mapped to code, tests, and review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481328"/>
            <a:ext cx="3429000" cy="1810512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0456" y="1645920"/>
            <a:ext cx="1051560" cy="292608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673352"/>
            <a:ext cx="96011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2148840"/>
            <a:ext cx="303580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Handoff completeness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642616"/>
            <a:ext cx="303580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Required artifacts present at each transition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630168"/>
            <a:ext cx="3429000" cy="1810512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" y="3794760"/>
            <a:ext cx="1051560" cy="292608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822192"/>
            <a:ext cx="96011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REWORK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297680"/>
            <a:ext cx="303580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Clarification / defect churn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791456"/>
            <a:ext cx="303580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Items reopened because intent or context was missing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5112" y="3630168"/>
            <a:ext cx="3429000" cy="1810512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89704" y="3794760"/>
            <a:ext cx="1051560" cy="292608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3822192"/>
            <a:ext cx="96011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4297680"/>
            <a:ext cx="303580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Approval traceability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4791456"/>
            <a:ext cx="303580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Decisions with owner, timestamp, rationale, and affected artifacts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55864" y="3630168"/>
            <a:ext cx="3429000" cy="1810512"/>
          </a:xfrm>
          <a:prstGeom prst="roundRect">
            <a:avLst/>
          </a:prstGeom>
          <a:solidFill>
            <a:srgbClr val="FFFFFF"/>
          </a:solidFill>
          <a:ln>
            <a:solidFill>
              <a:srgbClr val="D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0456" y="3794760"/>
            <a:ext cx="1051560" cy="292608"/>
          </a:xfrm>
          <a:prstGeom prst="roundRect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6176" y="3822192"/>
            <a:ext cx="96011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4297680"/>
            <a:ext cx="303580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Aptos"/>
              </a:rPr>
              <a:t>Knowledge reuse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4791456"/>
            <a:ext cx="303580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E6375"/>
                </a:solidFill>
                <a:latin typeface="Aptos"/>
              </a:rPr>
              <a:t>Prior decisions or patterns reused in a new feature 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797296"/>
            <a:ext cx="10652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8756F"/>
                </a:solidFill>
                <a:latin typeface="Aptos"/>
              </a:rPr>
              <a:t>Use a pilot baseline and compare the same team’s next 3–5 feature runs; avoid claiming value before evidence exists.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28816"/>
            <a:ext cx="10241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1919E"/>
                </a:solidFill>
                <a:latin typeface="Aptos"/>
              </a:rPr>
              <a:t>SDLC Agentic Framework  |  End-to-End New Feature Development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28816"/>
            <a:ext cx="548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81919E"/>
                </a:solidFill>
                <a:latin typeface="Aptos"/>
              </a:rPr>
              <a:t>CMT-02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56F"/>
                </a:solidFill>
                <a:latin typeface="Aptos"/>
              </a:rPr>
              <a:t>RISKS AND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Aptos"/>
              </a:rPr>
              <a:t>Automation expands throughput—and demands explicit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8756F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0972800" cy="22860"/>
          </a:xfrm>
          <a:prstGeom prst="rect">
            <a:avLst/>
          </a:prstGeom>
          <a:solidFill>
            <a:srgbClr val="D8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2468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56F"/>
                </a:solidFill>
                <a:latin typeface="Aptos"/>
              </a:rPr>
              <a:t>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481328"/>
            <a:ext cx="6309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56F"/>
                </a:solidFill>
                <a:latin typeface="Aptos"/>
              </a:rPr>
              <a:t>CONTROL BUILT INTO THE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83664"/>
            <a:ext cx="108813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20824"/>
            <a:ext cx="256032" cy="256032"/>
          </a:xfrm>
          <a:prstGeom prst="ellipse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66544"/>
            <a:ext cx="25603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029968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43E"/>
                </a:solidFill>
                <a:latin typeface="Aptos"/>
              </a:rPr>
              <a:t>Ambiguous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029968"/>
            <a:ext cx="6766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Structured clarification loop + architect scope 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42032"/>
            <a:ext cx="10881360" cy="530352"/>
          </a:xfrm>
          <a:prstGeom prst="roundRect">
            <a:avLst/>
          </a:prstGeom>
          <a:solidFill>
            <a:srgbClr val="EDF2F4"/>
          </a:solidFill>
          <a:ln>
            <a:solidFill>
              <a:srgbClr val="ED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2679192"/>
            <a:ext cx="256032" cy="256032"/>
          </a:xfrm>
          <a:prstGeom prst="ellipse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5603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688336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43E"/>
                </a:solidFill>
                <a:latin typeface="Aptos"/>
              </a:rPr>
              <a:t>Model variability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688336"/>
            <a:ext cx="6766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Local model constraints + schema validation + template fallback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00400"/>
            <a:ext cx="108813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3337560"/>
            <a:ext cx="256032" cy="256032"/>
          </a:xfrm>
          <a:prstGeom prst="ellipse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383280"/>
            <a:ext cx="25603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346704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43E"/>
                </a:solidFill>
                <a:latin typeface="Aptos"/>
              </a:rPr>
              <a:t>Unsafe code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346704"/>
            <a:ext cx="6766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Code-plan approval + sandboxed execution + unit tests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858768"/>
            <a:ext cx="10881360" cy="530352"/>
          </a:xfrm>
          <a:prstGeom prst="roundRect">
            <a:avLst/>
          </a:prstGeom>
          <a:solidFill>
            <a:srgbClr val="EDF2F4"/>
          </a:solidFill>
          <a:ln>
            <a:solidFill>
              <a:srgbClr val="ED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6" y="3995928"/>
            <a:ext cx="256032" cy="256032"/>
          </a:xfrm>
          <a:prstGeom prst="ellipse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041648"/>
            <a:ext cx="25603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00507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43E"/>
                </a:solidFill>
                <a:latin typeface="Aptos"/>
              </a:rPr>
              <a:t>Traceability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005072"/>
            <a:ext cx="6766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Stable artifact IDs + relationship validation at every stage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517136"/>
            <a:ext cx="108813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4654296"/>
            <a:ext cx="256032" cy="256032"/>
          </a:xfrm>
          <a:prstGeom prst="ellipse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700016"/>
            <a:ext cx="25603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663440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43E"/>
                </a:solidFill>
                <a:latin typeface="Aptos"/>
              </a:rPr>
              <a:t>Integration failure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663440"/>
            <a:ext cx="6766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Idempotent connectors + mock fallback + auditable state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175504"/>
            <a:ext cx="10881360" cy="530352"/>
          </a:xfrm>
          <a:prstGeom prst="roundRect">
            <a:avLst/>
          </a:prstGeom>
          <a:solidFill>
            <a:srgbClr val="EDF2F4"/>
          </a:solidFill>
          <a:ln>
            <a:solidFill>
              <a:srgbClr val="ED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9536" y="5312664"/>
            <a:ext cx="256032" cy="256032"/>
          </a:xfrm>
          <a:prstGeom prst="ellipse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5358384"/>
            <a:ext cx="25603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5321808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43E"/>
                </a:solidFill>
                <a:latin typeface="Aptos"/>
              </a:rPr>
              <a:t>Automation bias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5321808"/>
            <a:ext cx="6766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6375"/>
                </a:solidFill>
                <a:latin typeface="Aptos"/>
              </a:rPr>
              <a:t>Named human owners for approvals, exceptions, and release readiness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28816"/>
            <a:ext cx="10241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1919E"/>
                </a:solidFill>
                <a:latin typeface="Aptos"/>
              </a:rPr>
              <a:t>SDLC Agentic Framework  |  End-to-End New Feature Development 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18520" y="6528816"/>
            <a:ext cx="548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81919E"/>
                </a:solidFill>
                <a:latin typeface="Aptos"/>
              </a:rPr>
              <a:t>CMT-02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F1ED"/>
                </a:solidFill>
                <a:latin typeface="Aptos"/>
              </a:rPr>
              <a:t>CLOSING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ptos"/>
              </a:rPr>
              <a:t>Make every feature run leave the system smarter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D9F1ED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0972800" cy="22860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71323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ptos"/>
              </a:rPr>
              <a:t>The framework’s differentiator is not isolated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12848"/>
            <a:ext cx="740664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D9F1ED"/>
                </a:solidFill>
                <a:latin typeface="Aptos"/>
              </a:rPr>
              <a:t>It is the governed chain that connects intent, work, evidence, and organizational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069080"/>
            <a:ext cx="3200400" cy="1234440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4279392"/>
            <a:ext cx="438912" cy="438912"/>
          </a:xfrm>
          <a:prstGeom prst="ellipse">
            <a:avLst/>
          </a:prstGeom>
          <a:solidFill>
            <a:srgbClr val="F49A3F"/>
          </a:solidFill>
          <a:ln>
            <a:solidFill>
              <a:srgbClr val="F49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407408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4224528"/>
            <a:ext cx="2103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4626864"/>
            <a:ext cx="2148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8CCD7"/>
                </a:solidFill>
                <a:latin typeface="Aptos"/>
              </a:rPr>
              <a:t>one feature • one local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4069080"/>
            <a:ext cx="3200400" cy="1234440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279392"/>
            <a:ext cx="438912" cy="438912"/>
          </a:xfrm>
          <a:prstGeom prst="ellipse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407408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4224528"/>
            <a:ext cx="2103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4626864"/>
            <a:ext cx="2148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8CCD7"/>
                </a:solidFill>
                <a:latin typeface="Aptos"/>
              </a:rPr>
              <a:t>speed • coverage • handoff 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4069080"/>
            <a:ext cx="3200400" cy="1234440"/>
          </a:xfrm>
          <a:prstGeom prst="roundRect">
            <a:avLst/>
          </a:prstGeom>
          <a:solidFill>
            <a:srgbClr val="183A5A"/>
          </a:solidFill>
          <a:ln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19871" y="4279392"/>
            <a:ext cx="438912" cy="438912"/>
          </a:xfrm>
          <a:prstGeom prst="ellipse">
            <a:avLst/>
          </a:prstGeom>
          <a:solidFill>
            <a:srgbClr val="0C9A92"/>
          </a:solidFill>
          <a:ln>
            <a:solidFill>
              <a:srgbClr val="0C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1" y="4407408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4224528"/>
            <a:ext cx="2103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3376" y="4626864"/>
            <a:ext cx="2148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8CCD7"/>
                </a:solidFill>
                <a:latin typeface="Aptos"/>
              </a:rPr>
              <a:t>real backlog • Git • knowledge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870448"/>
            <a:ext cx="10789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49A3F"/>
                </a:solidFill>
                <a:latin typeface="Aptos"/>
              </a:rPr>
              <a:t>Requirement → Release → Reusable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28816"/>
            <a:ext cx="10241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1A7B7"/>
                </a:solidFill>
                <a:latin typeface="Aptos"/>
              </a:rPr>
              <a:t>SDLC Agentic Framework  |  End-to-End New Feature Development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528816"/>
            <a:ext cx="5486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91A7B7"/>
                </a:solidFill>
                <a:latin typeface="Aptos"/>
              </a:rPr>
              <a:t>CMT-02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SDLC Agentic Framework: End-to-End New Feature Development Automation</dc:title>
  <dc:subject>CMT-02 project presentation</dc:subject>
  <dc:creator>Prepared from the CMT-02 project brief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