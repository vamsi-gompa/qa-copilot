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c4d1a8a7294b61" /><Relationship Type="http://schemas.openxmlformats.org/officeDocument/2006/relationships/extended-properties" Target="/docProps/app.xml" Id="R01d90bd9bfb74652" /><Relationship Type="http://schemas.openxmlformats.org/officeDocument/2006/relationships/officeDocument" Target="/ppt/presentation.xml" Id="R22c468418226447b" /></Relationships>
</file>

<file path=ppt/presentation.xml><?xml version="1.0" encoding="utf-8"?>
<p:presentation xmlns:p="http://schemas.openxmlformats.org/presentationml/2006/main">
  <p:sldMasterIdLst>
    <p:sldMasterId xmlns:r="http://schemas.openxmlformats.org/officeDocument/2006/relationships" id="2147483648" r:id="R656427d836eb4e68"/>
  </p:sldMasterIdLst>
  <p:notesMasterIdLst>
    <p:notesMasterId xmlns:r="http://schemas.openxmlformats.org/officeDocument/2006/relationships" r:id="R465cbecf891a408b"/>
  </p:notesMasterIdLst>
  <p:sldIdLst>
    <p:sldId xmlns:r="http://schemas.openxmlformats.org/officeDocument/2006/relationships" id="256" r:id="R574e1a24b54f4db5"/>
    <p:sldId xmlns:r="http://schemas.openxmlformats.org/officeDocument/2006/relationships" id="257" r:id="R0e86375f395f4ec3"/>
    <p:sldId xmlns:r="http://schemas.openxmlformats.org/officeDocument/2006/relationships" id="258" r:id="Rbe0449e6aee14b23"/>
    <p:sldId xmlns:r="http://schemas.openxmlformats.org/officeDocument/2006/relationships" id="259" r:id="Raa528b8936e943a7"/>
    <p:sldId xmlns:r="http://schemas.openxmlformats.org/officeDocument/2006/relationships" id="260" r:id="Rf80b10b1a9a8471c"/>
    <p:sldId xmlns:r="http://schemas.openxmlformats.org/officeDocument/2006/relationships" id="261" r:id="R28f62329b4b34d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7f643ecac949f9" /><Relationship Type="http://schemas.openxmlformats.org/officeDocument/2006/relationships/slideMaster" Target="/ppt/slideMasters/slideMaster1.xml" Id="R656427d836eb4e68" /><Relationship Type="http://schemas.openxmlformats.org/officeDocument/2006/relationships/notesMaster" Target="/ppt/notesMasters/notesMaster1.xml" Id="R465cbecf891a408b" /><Relationship Type="http://schemas.openxmlformats.org/officeDocument/2006/relationships/presProps" Target="/ppt/presProps.xml" Id="R0627846552314696" /><Relationship Type="http://schemas.openxmlformats.org/officeDocument/2006/relationships/tableStyles" Target="/ppt/tableStyles.xml" Id="R8364996ea7754d5a" /><Relationship Type="http://schemas.openxmlformats.org/officeDocument/2006/relationships/slide" Target="/ppt/slides/slide1.xml" Id="R574e1a24b54f4db5" /><Relationship Type="http://schemas.openxmlformats.org/officeDocument/2006/relationships/slide" Target="/ppt/slides/slide2.xml" Id="R0e86375f395f4ec3" /><Relationship Type="http://schemas.openxmlformats.org/officeDocument/2006/relationships/slide" Target="/ppt/slides/slide3.xml" Id="Rbe0449e6aee14b23" /><Relationship Type="http://schemas.openxmlformats.org/officeDocument/2006/relationships/slide" Target="/ppt/slides/slide4.xml" Id="Raa528b8936e943a7" /><Relationship Type="http://schemas.openxmlformats.org/officeDocument/2006/relationships/slide" Target="/ppt/slides/slide5.xml" Id="Rf80b10b1a9a8471c" /><Relationship Type="http://schemas.openxmlformats.org/officeDocument/2006/relationships/slide" Target="/ppt/slides/slide6.xml" Id="R28f62329b4b34d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74e4a544e946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fe9be4a09043b1" /><Relationship Type="http://schemas.openxmlformats.org/officeDocument/2006/relationships/notesMaster" Target="/ppt/notesMasters/notesMaster1.xml" Id="Ra47c973bd3344e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520fdd00544350" /><Relationship Type="http://schemas.openxmlformats.org/officeDocument/2006/relationships/notesMaster" Target="/ppt/notesMasters/notesMaster1.xml" Id="Rf808417d8cae4a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f086719a5644f7" /><Relationship Type="http://schemas.openxmlformats.org/officeDocument/2006/relationships/notesMaster" Target="/ppt/notesMasters/notesMaster1.xml" Id="Rdb7a5352e3e848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d8798c8fd3476a" /><Relationship Type="http://schemas.openxmlformats.org/officeDocument/2006/relationships/notesMaster" Target="/ppt/notesMasters/notesMaster1.xml" Id="Rbaf180f6644a40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712939f85c4403" /><Relationship Type="http://schemas.openxmlformats.org/officeDocument/2006/relationships/notesMaster" Target="/ppt/notesMasters/notesMaster1.xml" Id="R1ad8d01516f14c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309d01ccaf4378" /><Relationship Type="http://schemas.openxmlformats.org/officeDocument/2006/relationships/notesMaster" Target="/ppt/notesMasters/notesMaster1.xml" Id="R2233432c81dc47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Phoenix Batch Monitoring System is a standalone React application created to replace the deprecated Genie Webex bot. It provides a clearer and more direct way to monitor batch 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monitoring flow depended on the Genie Webex bot and a static HTML page. When the organization migrated from Webex to Microsoft Teams, the bot became obsolete. Phoenix was built as a standalone React application and does not integrate with or depend on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Phoenix combines the core tasks needed for batch monitoring in one application. Users can review the dashboard, search for batch details, narrow results with filters and access the application securely. Replace the dashboard placeholder with the final screenshot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Phoenix changes the experience from a Webex bot and static HTML output to a standalone React application. It adds a central dashboard, better search and filtering, clearer operational visibility and a foundation for future enhancements.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access Phoenix through the Phoenix Launch Pad. They select Phoenix Batch Monitoring System and then begin monitoring. Replace the Launch Pad placeholder with the final screenshot and add the application URL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Phoenix improves batch monitoring through clearer visibility, faster information retrieval, controlled access and a modern user experience. The application was developed end to end through vibe coding as a standalone replacement for the deprecated Genie Webex 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e444b4d9ca42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30e36a1c9a4c16" /><Relationship Type="http://schemas.openxmlformats.org/officeDocument/2006/relationships/slideLayout" Target="/ppt/slideLayouts/slideLayout1.xml" Id="Rdf0b3876ceb641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0b3876ceb641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920df847ed4905" /><Relationship Type="http://schemas.openxmlformats.org/officeDocument/2006/relationships/notesSlide" Target="/ppt/notesSlides/notesSlide1.xml" Id="Ra2eb99dc2c4146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bb215e7d334e86" /><Relationship Type="http://schemas.openxmlformats.org/officeDocument/2006/relationships/notesSlide" Target="/ppt/notesSlides/notesSlide2.xml" Id="R91a44c41362b43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87f6738f9b456e" /><Relationship Type="http://schemas.openxmlformats.org/officeDocument/2006/relationships/notesSlide" Target="/ppt/notesSlides/notesSlide3.xml" Id="R55ac704e12d046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8e4c8f2fca4358" /><Relationship Type="http://schemas.openxmlformats.org/officeDocument/2006/relationships/notesSlide" Target="/ppt/notesSlides/notesSlide4.xml" Id="R572f33d81f3443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f5e3e670894a7b" /><Relationship Type="http://schemas.openxmlformats.org/officeDocument/2006/relationships/notesSlide" Target="/ppt/notesSlides/notesSlide5.xml" Id="R48b24407cdc044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1bcbf085e244d9" /><Relationship Type="http://schemas.openxmlformats.org/officeDocument/2006/relationships/notesSlide" Target="/ppt/notesSlides/notesSlide6.xml" Id="Ra50212f5c1af4161" /></Relationships>
</file>

<file path=ppt/slides/slide1.xml><?xml version="1.0" encoding="utf-8"?>
<p:sld xmlns:p="http://schemas.openxmlformats.org/presentationml/2006/main">
  <p:cSld>
    <p:bg>
      <p:bgPr>
        <a:solidFill xmlns:a="http://schemas.openxmlformats.org/drawingml/2006/main">
          <a:srgbClr val="071B3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1C0659D-2648-41A0-8B65-DE08315D47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B7F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569AA1-CC20-4A44-9053-D698CB435D9E}"/>
              </a:ext>
            </a:extLst>
          </p:cNvPr>
          <p:cNvSpPr>
            <a:spLocks xmlns:a="http://schemas.openxmlformats.org/drawingml/2006/main" noGrp="1"/>
          </p:cNvSpPr>
          <p:nvPr/>
        </p:nvSpPr>
        <p:spPr>
          <a:xfrm xmlns:a="http://schemas.openxmlformats.org/drawingml/2006/main">
            <a:off x="704850" y="6858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5B7F4"/>
                </a:solidFill>
                <a:latin typeface="Segoe UI"/>
                <a:ea typeface="Segoe UI"/>
                <a:cs typeface="Segoe UI"/>
              </a:defRPr>
            </a:pPr>
            <a:r>
              <a:rPr sz="1350" b="1">
                <a:solidFill>
                  <a:srgbClr val="25B7F4"/>
                </a:solidFill>
                <a:latin typeface="Segoe UI"/>
                <a:ea typeface="Segoe UI"/>
                <a:cs typeface="Segoe UI"/>
              </a:rPr>
              <a:t>PHOENIX</a:t>
            </a:r>
          </a:p>
        </p:txBody>
      </p:sp>
      <p:sp>
        <p:nvSpPr>
          <p:cNvPr id="3" name="">
            <a:extLst xmlns:a="http://schemas.openxmlformats.org/drawingml/2006/main">
              <a:ext uri="{FF2B5EF4-FFF2-40B4-BE49-F238E27FC236}">
                <a16:creationId xmlns:a16="http://schemas.microsoft.com/office/drawing/2014/main" id="{889B4694-4551-4B02-A137-86B928274738}"/>
              </a:ext>
            </a:extLst>
          </p:cNvPr>
          <p:cNvSpPr>
            <a:spLocks xmlns:a="http://schemas.openxmlformats.org/drawingml/2006/main" noGrp="1"/>
          </p:cNvSpPr>
          <p:nvPr/>
        </p:nvSpPr>
        <p:spPr>
          <a:xfrm xmlns:a="http://schemas.openxmlformats.org/drawingml/2006/main">
            <a:off x="685800" y="1333500"/>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FFFFFF"/>
                </a:solidFill>
                <a:latin typeface="Segoe UI"/>
                <a:ea typeface="Segoe UI"/>
                <a:cs typeface="Segoe UI"/>
              </a:defRPr>
            </a:pPr>
            <a:r>
              <a:rPr sz="3600" b="1">
                <a:solidFill>
                  <a:srgbClr val="FFFFFF"/>
                </a:solidFill>
                <a:latin typeface="Segoe UI"/>
                <a:ea typeface="Segoe UI"/>
                <a:cs typeface="Segoe UI"/>
              </a:rPr>
              <a:t>Batch Monitoring</a:t>
            </a:r>
          </a:p>
          <a:p xmlns:a="http://schemas.openxmlformats.org/drawingml/2006/main">
            <a:pPr algn="l">
              <a:defRPr sz="3600" b="1">
                <a:solidFill>
                  <a:srgbClr val="FFFFFF"/>
                </a:solidFill>
                <a:latin typeface="Segoe UI"/>
                <a:ea typeface="Segoe UI"/>
                <a:cs typeface="Segoe UI"/>
              </a:defRPr>
            </a:pPr>
            <a:r>
              <a:rPr sz="3600" b="1">
                <a:solidFill>
                  <a:srgbClr val="FFFFFF"/>
                </a:solidFill>
                <a:latin typeface="Segoe UI"/>
                <a:ea typeface="Segoe UI"/>
                <a:cs typeface="Segoe UI"/>
              </a:rPr>
              <a:t>System</a:t>
            </a:r>
          </a:p>
        </p:txBody>
      </p:sp>
      <p:sp>
        <p:nvSpPr>
          <p:cNvPr id="4" name="">
            <a:extLst xmlns:a="http://schemas.openxmlformats.org/drawingml/2006/main">
              <a:ext uri="{FF2B5EF4-FFF2-40B4-BE49-F238E27FC236}">
                <a16:creationId xmlns:a16="http://schemas.microsoft.com/office/drawing/2014/main" id="{33DE5613-C8CA-4314-80BE-D9C6DE82DEF3}"/>
              </a:ext>
            </a:extLst>
          </p:cNvPr>
          <p:cNvSpPr>
            <a:spLocks xmlns:a="http://schemas.openxmlformats.org/drawingml/2006/main" noGrp="1"/>
          </p:cNvSpPr>
          <p:nvPr/>
        </p:nvSpPr>
        <p:spPr>
          <a:xfrm xmlns:a="http://schemas.openxmlformats.org/drawingml/2006/main">
            <a:off x="723900" y="3000375"/>
            <a:ext cx="571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C8D9EA"/>
                </a:solidFill>
                <a:latin typeface="Segoe UI"/>
                <a:ea typeface="Segoe UI"/>
                <a:cs typeface="Segoe UI"/>
              </a:defRPr>
            </a:pPr>
            <a:r>
              <a:rPr sz="1650" b="0">
                <a:solidFill>
                  <a:srgbClr val="C8D9EA"/>
                </a:solidFill>
                <a:latin typeface="Segoe UI"/>
                <a:ea typeface="Segoe UI"/>
                <a:cs typeface="Segoe UI"/>
              </a:rPr>
              <a:t>A standalone React application for clear, secure batch monitoring</a:t>
            </a:r>
          </a:p>
        </p:txBody>
      </p:sp>
      <p:sp>
        <p:nvSpPr>
          <p:cNvPr id="5" name="">
            <a:extLst xmlns:a="http://schemas.openxmlformats.org/drawingml/2006/main">
              <a:ext uri="{FF2B5EF4-FFF2-40B4-BE49-F238E27FC236}">
                <a16:creationId xmlns:a16="http://schemas.microsoft.com/office/drawing/2014/main" id="{C689FCAB-FE77-4AFF-B80F-194004F23E3F}"/>
              </a:ext>
            </a:extLst>
          </p:cNvPr>
          <p:cNvSpPr>
            <a:spLocks xmlns:a="http://schemas.openxmlformats.org/drawingml/2006/main" noGrp="1"/>
          </p:cNvSpPr>
          <p:nvPr/>
        </p:nvSpPr>
        <p:spPr>
          <a:xfrm xmlns:a="http://schemas.openxmlformats.org/drawingml/2006/main">
            <a:off x="723900" y="3981450"/>
            <a:ext cx="4953000" cy="9525"/>
          </a:xfrm>
          <a:prstGeom xmlns:a="http://schemas.openxmlformats.org/drawingml/2006/main" prst="rect">
            <a:avLst/>
          </a:prstGeom>
          <a:solidFill xmlns:a="http://schemas.openxmlformats.org/drawingml/2006/main">
            <a:srgbClr val="24456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2EB1CF4-98FF-4FAB-BBDD-94BBA5DCEEDF}"/>
              </a:ext>
            </a:extLst>
          </p:cNvPr>
          <p:cNvSpPr>
            <a:spLocks xmlns:a="http://schemas.openxmlformats.org/drawingml/2006/main" noGrp="1"/>
          </p:cNvSpPr>
          <p:nvPr/>
        </p:nvSpPr>
        <p:spPr>
          <a:xfrm xmlns:a="http://schemas.openxmlformats.org/drawingml/2006/main">
            <a:off x="723900" y="42100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5B7F4"/>
                </a:solidFill>
                <a:latin typeface="Segoe UI"/>
                <a:ea typeface="Segoe UI"/>
                <a:cs typeface="Segoe UI"/>
              </a:defRPr>
            </a:pPr>
            <a:r>
              <a:rPr sz="1200" b="1">
                <a:solidFill>
                  <a:srgbClr val="25B7F4"/>
                </a:solidFill>
                <a:latin typeface="Segoe UI"/>
                <a:ea typeface="Segoe UI"/>
                <a:cs typeface="Segoe UI"/>
              </a:rPr>
              <a:t>Built end to end through vibe coding</a:t>
            </a:r>
          </a:p>
        </p:txBody>
      </p:sp>
      <p:sp>
        <p:nvSpPr>
          <p:cNvPr id="7" name="">
            <a:extLst xmlns:a="http://schemas.openxmlformats.org/drawingml/2006/main">
              <a:ext uri="{FF2B5EF4-FFF2-40B4-BE49-F238E27FC236}">
                <a16:creationId xmlns:a16="http://schemas.microsoft.com/office/drawing/2014/main" id="{F57897B9-1D6D-4DED-9803-4C366F0F1CAA}"/>
              </a:ext>
            </a:extLst>
          </p:cNvPr>
          <p:cNvSpPr>
            <a:spLocks xmlns:a="http://schemas.openxmlformats.org/drawingml/2006/main" noGrp="1"/>
          </p:cNvSpPr>
          <p:nvPr/>
        </p:nvSpPr>
        <p:spPr>
          <a:xfrm xmlns:a="http://schemas.openxmlformats.org/drawingml/2006/main">
            <a:off x="723900" y="56578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98AEC5"/>
                </a:solidFill>
                <a:latin typeface="Segoe UI"/>
                <a:ea typeface="Segoe UI"/>
                <a:cs typeface="Segoe UI"/>
              </a:defRPr>
            </a:pPr>
            <a:r>
              <a:rPr sz="1050" b="0">
                <a:solidFill>
                  <a:srgbClr val="98AEC5"/>
                </a:solidFill>
                <a:latin typeface="Segoe UI"/>
                <a:ea typeface="Segoe UI"/>
                <a:cs typeface="Segoe UI"/>
              </a:rPr>
              <a:t>[Presenter Name]   [Team Name]   [Date]</a:t>
            </a:r>
          </a:p>
        </p:txBody>
      </p:sp>
      <p:sp>
        <p:nvSpPr>
          <p:cNvPr id="8" name="">
            <a:extLst xmlns:a="http://schemas.openxmlformats.org/drawingml/2006/main">
              <a:ext uri="{FF2B5EF4-FFF2-40B4-BE49-F238E27FC236}">
                <a16:creationId xmlns:a16="http://schemas.microsoft.com/office/drawing/2014/main" id="{A2B8178E-03C3-4FB8-A879-43B8482112F6}"/>
              </a:ext>
            </a:extLst>
          </p:cNvPr>
          <p:cNvSpPr>
            <a:spLocks xmlns:a="http://schemas.openxmlformats.org/drawingml/2006/main" noGrp="1"/>
          </p:cNvSpPr>
          <p:nvPr/>
        </p:nvSpPr>
        <p:spPr>
          <a:xfrm xmlns:a="http://schemas.openxmlformats.org/drawingml/2006/main">
            <a:off x="7239000" y="666750"/>
            <a:ext cx="4095750" cy="5334000"/>
          </a:xfrm>
          <a:prstGeom xmlns:a="http://schemas.openxmlformats.org/drawingml/2006/main" prst="roundRect">
            <a:avLst>
              <a:gd name="adj" fmla="val 7907"/>
            </a:avLst>
          </a:prstGeom>
          <a:solidFill xmlns:a="http://schemas.openxmlformats.org/drawingml/2006/main">
            <a:srgbClr val="0B2748"/>
          </a:solidFill>
          <a:ln xmlns:a="http://schemas.openxmlformats.org/drawingml/2006/main" w="9525">
            <a:solidFill>
              <a:srgbClr val="24537A"/>
            </a:solidFill>
            <a:prstDash val="solid"/>
          </a:ln>
        </p:spPr>
      </p:sp>
      <p:sp>
        <p:nvSpPr>
          <p:cNvPr id="9" name="">
            <a:extLst xmlns:a="http://schemas.openxmlformats.org/drawingml/2006/main">
              <a:ext uri="{FF2B5EF4-FFF2-40B4-BE49-F238E27FC236}">
                <a16:creationId xmlns:a16="http://schemas.microsoft.com/office/drawing/2014/main" id="{6E869A83-43CD-467D-8C6E-4D0418E854F4}"/>
              </a:ext>
            </a:extLst>
          </p:cNvPr>
          <p:cNvSpPr>
            <a:spLocks xmlns:a="http://schemas.openxmlformats.org/drawingml/2006/main" noGrp="1"/>
          </p:cNvSpPr>
          <p:nvPr/>
        </p:nvSpPr>
        <p:spPr>
          <a:xfrm xmlns:a="http://schemas.openxmlformats.org/drawingml/2006/main">
            <a:off x="7696200" y="1047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8FD8F7"/>
                </a:solidFill>
                <a:latin typeface="Segoe UI"/>
                <a:ea typeface="Segoe UI"/>
                <a:cs typeface="Segoe UI"/>
              </a:defRPr>
            </a:pPr>
            <a:r>
              <a:rPr sz="975" b="1">
                <a:solidFill>
                  <a:srgbClr val="8FD8F7"/>
                </a:solidFill>
                <a:latin typeface="Segoe UI"/>
                <a:ea typeface="Segoe UI"/>
                <a:cs typeface="Segoe UI"/>
              </a:rPr>
              <a:t>BATCH OPERATIONS</a:t>
            </a:r>
          </a:p>
        </p:txBody>
      </p:sp>
      <p:sp>
        <p:nvSpPr>
          <p:cNvPr id="10" name="">
            <a:extLst xmlns:a="http://schemas.openxmlformats.org/drawingml/2006/main">
              <a:ext uri="{FF2B5EF4-FFF2-40B4-BE49-F238E27FC236}">
                <a16:creationId xmlns:a16="http://schemas.microsoft.com/office/drawing/2014/main" id="{5F725D69-CC74-4A84-8998-D60400B72A62}"/>
              </a:ext>
            </a:extLst>
          </p:cNvPr>
          <p:cNvSpPr>
            <a:spLocks xmlns:a="http://schemas.openxmlformats.org/drawingml/2006/main" noGrp="1"/>
          </p:cNvSpPr>
          <p:nvPr/>
        </p:nvSpPr>
        <p:spPr>
          <a:xfrm xmlns:a="http://schemas.openxmlformats.org/drawingml/2006/main">
            <a:off x="7658100" y="1666875"/>
            <a:ext cx="514350" cy="514350"/>
          </a:xfrm>
          <a:prstGeom xmlns:a="http://schemas.openxmlformats.org/drawingml/2006/main" prst="roundRect">
            <a:avLst>
              <a:gd name="adj" fmla="val 50000"/>
            </a:avLst>
          </a:prstGeom>
          <a:solidFill xmlns:a="http://schemas.openxmlformats.org/drawingml/2006/main">
            <a:srgbClr val="1467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317523-3A3C-467B-B967-FA02FAA26CF7}"/>
              </a:ext>
            </a:extLst>
          </p:cNvPr>
          <p:cNvSpPr>
            <a:spLocks xmlns:a="http://schemas.openxmlformats.org/drawingml/2006/main" noGrp="1"/>
          </p:cNvSpPr>
          <p:nvPr/>
        </p:nvSpPr>
        <p:spPr>
          <a:xfrm xmlns:a="http://schemas.openxmlformats.org/drawingml/2006/main">
            <a:off x="7658100" y="16668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Segoe UI"/>
                <a:ea typeface="Segoe UI"/>
                <a:cs typeface="Segoe UI"/>
              </a:defRPr>
            </a:pPr>
            <a:r>
              <a:rPr sz="1200" b="1">
                <a:solidFill>
                  <a:srgbClr val="FFFFFF"/>
                </a:solidFill>
                <a:latin typeface="Segoe UI"/>
                <a:ea typeface="Segoe UI"/>
                <a:cs typeface="Segoe UI"/>
              </a:rPr>
              <a:t>01</a:t>
            </a:r>
          </a:p>
        </p:txBody>
      </p:sp>
      <p:sp>
        <p:nvSpPr>
          <p:cNvPr id="12" name="">
            <a:extLst xmlns:a="http://schemas.openxmlformats.org/drawingml/2006/main">
              <a:ext uri="{FF2B5EF4-FFF2-40B4-BE49-F238E27FC236}">
                <a16:creationId xmlns:a16="http://schemas.microsoft.com/office/drawing/2014/main" id="{052E2505-D4EC-4CCF-9817-63A546940CEE}"/>
              </a:ext>
            </a:extLst>
          </p:cNvPr>
          <p:cNvSpPr>
            <a:spLocks xmlns:a="http://schemas.openxmlformats.org/drawingml/2006/main" noGrp="1"/>
          </p:cNvSpPr>
          <p:nvPr/>
        </p:nvSpPr>
        <p:spPr>
          <a:xfrm xmlns:a="http://schemas.openxmlformats.org/drawingml/2006/main">
            <a:off x="8420100" y="16478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Monitor</a:t>
            </a:r>
          </a:p>
        </p:txBody>
      </p:sp>
      <p:sp>
        <p:nvSpPr>
          <p:cNvPr id="13" name="">
            <a:extLst xmlns:a="http://schemas.openxmlformats.org/drawingml/2006/main">
              <a:ext uri="{FF2B5EF4-FFF2-40B4-BE49-F238E27FC236}">
                <a16:creationId xmlns:a16="http://schemas.microsoft.com/office/drawing/2014/main" id="{1BCE7E3C-C3C1-4A61-AB6F-BE7D9BE8A2C8}"/>
              </a:ext>
            </a:extLst>
          </p:cNvPr>
          <p:cNvSpPr>
            <a:spLocks xmlns:a="http://schemas.openxmlformats.org/drawingml/2006/main" noGrp="1"/>
          </p:cNvSpPr>
          <p:nvPr/>
        </p:nvSpPr>
        <p:spPr>
          <a:xfrm xmlns:a="http://schemas.openxmlformats.org/drawingml/2006/main">
            <a:off x="8420100" y="199072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FD0E1"/>
                </a:solidFill>
                <a:latin typeface="Segoe UI"/>
                <a:ea typeface="Segoe UI"/>
                <a:cs typeface="Segoe UI"/>
              </a:defRPr>
            </a:pPr>
            <a:r>
              <a:rPr sz="1050" b="0">
                <a:solidFill>
                  <a:srgbClr val="BFD0E1"/>
                </a:solidFill>
                <a:latin typeface="Segoe UI"/>
                <a:ea typeface="Segoe UI"/>
                <a:cs typeface="Segoe UI"/>
              </a:rPr>
              <a:t>See processing activity in one place</a:t>
            </a:r>
          </a:p>
        </p:txBody>
      </p:sp>
      <p:sp>
        <p:nvSpPr>
          <p:cNvPr id="14" name="">
            <a:extLst xmlns:a="http://schemas.openxmlformats.org/drawingml/2006/main">
              <a:ext uri="{FF2B5EF4-FFF2-40B4-BE49-F238E27FC236}">
                <a16:creationId xmlns:a16="http://schemas.microsoft.com/office/drawing/2014/main" id="{343A7E90-E5F6-4683-86A1-FC971683B241}"/>
              </a:ext>
            </a:extLst>
          </p:cNvPr>
          <p:cNvSpPr>
            <a:spLocks xmlns:a="http://schemas.openxmlformats.org/drawingml/2006/main" noGrp="1"/>
          </p:cNvSpPr>
          <p:nvPr/>
        </p:nvSpPr>
        <p:spPr>
          <a:xfrm xmlns:a="http://schemas.openxmlformats.org/drawingml/2006/main">
            <a:off x="7915275" y="2314575"/>
            <a:ext cx="9525" cy="457200"/>
          </a:xfrm>
          <a:prstGeom xmlns:a="http://schemas.openxmlformats.org/drawingml/2006/main" prst="rect">
            <a:avLst/>
          </a:prstGeom>
          <a:solidFill xmlns:a="http://schemas.openxmlformats.org/drawingml/2006/main">
            <a:srgbClr val="3A5C7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C83436-85B7-4586-845D-EA3B4BB6E7B2}"/>
              </a:ext>
            </a:extLst>
          </p:cNvPr>
          <p:cNvSpPr>
            <a:spLocks xmlns:a="http://schemas.openxmlformats.org/drawingml/2006/main" noGrp="1"/>
          </p:cNvSpPr>
          <p:nvPr/>
        </p:nvSpPr>
        <p:spPr>
          <a:xfrm xmlns:a="http://schemas.openxmlformats.org/drawingml/2006/main">
            <a:off x="7658100" y="2886075"/>
            <a:ext cx="514350" cy="514350"/>
          </a:xfrm>
          <a:prstGeom xmlns:a="http://schemas.openxmlformats.org/drawingml/2006/main" prst="roundRect">
            <a:avLst>
              <a:gd name="adj" fmla="val 50000"/>
            </a:avLst>
          </a:prstGeom>
          <a:solidFill xmlns:a="http://schemas.openxmlformats.org/drawingml/2006/main">
            <a:srgbClr val="1467D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E0F680-6BCE-455A-B7B8-99F97EF7C821}"/>
              </a:ext>
            </a:extLst>
          </p:cNvPr>
          <p:cNvSpPr>
            <a:spLocks xmlns:a="http://schemas.openxmlformats.org/drawingml/2006/main" noGrp="1"/>
          </p:cNvSpPr>
          <p:nvPr/>
        </p:nvSpPr>
        <p:spPr>
          <a:xfrm xmlns:a="http://schemas.openxmlformats.org/drawingml/2006/main">
            <a:off x="7658100" y="2886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Segoe UI"/>
                <a:ea typeface="Segoe UI"/>
                <a:cs typeface="Segoe UI"/>
              </a:defRPr>
            </a:pPr>
            <a:r>
              <a:rPr sz="1200" b="1">
                <a:solidFill>
                  <a:srgbClr val="FFFFFF"/>
                </a:solidFill>
                <a:latin typeface="Segoe UI"/>
                <a:ea typeface="Segoe UI"/>
                <a:cs typeface="Segoe UI"/>
              </a:rPr>
              <a:t>02</a:t>
            </a:r>
          </a:p>
        </p:txBody>
      </p:sp>
      <p:sp>
        <p:nvSpPr>
          <p:cNvPr id="17" name="">
            <a:extLst xmlns:a="http://schemas.openxmlformats.org/drawingml/2006/main">
              <a:ext uri="{FF2B5EF4-FFF2-40B4-BE49-F238E27FC236}">
                <a16:creationId xmlns:a16="http://schemas.microsoft.com/office/drawing/2014/main" id="{A27A888B-32C1-4207-8561-4F45F9AE1AC5}"/>
              </a:ext>
            </a:extLst>
          </p:cNvPr>
          <p:cNvSpPr>
            <a:spLocks xmlns:a="http://schemas.openxmlformats.org/drawingml/2006/main" noGrp="1"/>
          </p:cNvSpPr>
          <p:nvPr/>
        </p:nvSpPr>
        <p:spPr>
          <a:xfrm xmlns:a="http://schemas.openxmlformats.org/drawingml/2006/main">
            <a:off x="8420100" y="28670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Find</a:t>
            </a:r>
          </a:p>
        </p:txBody>
      </p:sp>
      <p:sp>
        <p:nvSpPr>
          <p:cNvPr id="18" name="">
            <a:extLst xmlns:a="http://schemas.openxmlformats.org/drawingml/2006/main">
              <a:ext uri="{FF2B5EF4-FFF2-40B4-BE49-F238E27FC236}">
                <a16:creationId xmlns:a16="http://schemas.microsoft.com/office/drawing/2014/main" id="{698A2728-D2D1-4F47-87C8-A9D8C4402EA9}"/>
              </a:ext>
            </a:extLst>
          </p:cNvPr>
          <p:cNvSpPr>
            <a:spLocks xmlns:a="http://schemas.openxmlformats.org/drawingml/2006/main" noGrp="1"/>
          </p:cNvSpPr>
          <p:nvPr/>
        </p:nvSpPr>
        <p:spPr>
          <a:xfrm xmlns:a="http://schemas.openxmlformats.org/drawingml/2006/main">
            <a:off x="8420100" y="320992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FD0E1"/>
                </a:solidFill>
                <a:latin typeface="Segoe UI"/>
                <a:ea typeface="Segoe UI"/>
                <a:cs typeface="Segoe UI"/>
              </a:defRPr>
            </a:pPr>
            <a:r>
              <a:rPr sz="1050" b="0">
                <a:solidFill>
                  <a:srgbClr val="BFD0E1"/>
                </a:solidFill>
                <a:latin typeface="Segoe UI"/>
                <a:ea typeface="Segoe UI"/>
                <a:cs typeface="Segoe UI"/>
              </a:rPr>
              <a:t>Search and filter the batch details you need</a:t>
            </a:r>
          </a:p>
        </p:txBody>
      </p:sp>
      <p:sp>
        <p:nvSpPr>
          <p:cNvPr id="19" name="">
            <a:extLst xmlns:a="http://schemas.openxmlformats.org/drawingml/2006/main">
              <a:ext uri="{FF2B5EF4-FFF2-40B4-BE49-F238E27FC236}">
                <a16:creationId xmlns:a16="http://schemas.microsoft.com/office/drawing/2014/main" id="{7B6C9DDD-01D5-4C8B-AB9D-28C80F2CE891}"/>
              </a:ext>
            </a:extLst>
          </p:cNvPr>
          <p:cNvSpPr>
            <a:spLocks xmlns:a="http://schemas.openxmlformats.org/drawingml/2006/main" noGrp="1"/>
          </p:cNvSpPr>
          <p:nvPr/>
        </p:nvSpPr>
        <p:spPr>
          <a:xfrm xmlns:a="http://schemas.openxmlformats.org/drawingml/2006/main">
            <a:off x="7915275" y="3533775"/>
            <a:ext cx="9525" cy="457200"/>
          </a:xfrm>
          <a:prstGeom xmlns:a="http://schemas.openxmlformats.org/drawingml/2006/main" prst="rect">
            <a:avLst/>
          </a:prstGeom>
          <a:solidFill xmlns:a="http://schemas.openxmlformats.org/drawingml/2006/main">
            <a:srgbClr val="3A5C7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4B8E80-139E-4CD8-BCEC-9D5C8BF2E1E3}"/>
              </a:ext>
            </a:extLst>
          </p:cNvPr>
          <p:cNvSpPr>
            <a:spLocks xmlns:a="http://schemas.openxmlformats.org/drawingml/2006/main" noGrp="1"/>
          </p:cNvSpPr>
          <p:nvPr/>
        </p:nvSpPr>
        <p:spPr>
          <a:xfrm xmlns:a="http://schemas.openxmlformats.org/drawingml/2006/main">
            <a:off x="7658100" y="4105275"/>
            <a:ext cx="514350" cy="514350"/>
          </a:xfrm>
          <a:prstGeom xmlns:a="http://schemas.openxmlformats.org/drawingml/2006/main" prst="roundRect">
            <a:avLst>
              <a:gd name="adj" fmla="val 50000"/>
            </a:avLst>
          </a:prstGeom>
          <a:solidFill xmlns:a="http://schemas.openxmlformats.org/drawingml/2006/main">
            <a:srgbClr val="25B7F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25ECB02-C1AD-4D53-94CA-6CC279140791}"/>
              </a:ext>
            </a:extLst>
          </p:cNvPr>
          <p:cNvSpPr>
            <a:spLocks xmlns:a="http://schemas.openxmlformats.org/drawingml/2006/main" noGrp="1"/>
          </p:cNvSpPr>
          <p:nvPr/>
        </p:nvSpPr>
        <p:spPr>
          <a:xfrm xmlns:a="http://schemas.openxmlformats.org/drawingml/2006/main">
            <a:off x="7658100" y="41052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Segoe UI"/>
                <a:ea typeface="Segoe UI"/>
                <a:cs typeface="Segoe UI"/>
              </a:defRPr>
            </a:pPr>
            <a:r>
              <a:rPr sz="1200" b="1">
                <a:solidFill>
                  <a:srgbClr val="FFFFFF"/>
                </a:solidFill>
                <a:latin typeface="Segoe UI"/>
                <a:ea typeface="Segoe UI"/>
                <a:cs typeface="Segoe UI"/>
              </a:rPr>
              <a:t>03</a:t>
            </a:r>
          </a:p>
        </p:txBody>
      </p:sp>
      <p:sp>
        <p:nvSpPr>
          <p:cNvPr id="22" name="">
            <a:extLst xmlns:a="http://schemas.openxmlformats.org/drawingml/2006/main">
              <a:ext uri="{FF2B5EF4-FFF2-40B4-BE49-F238E27FC236}">
                <a16:creationId xmlns:a16="http://schemas.microsoft.com/office/drawing/2014/main" id="{CCE4C670-25EC-440D-8B76-C5A90E59511B}"/>
              </a:ext>
            </a:extLst>
          </p:cNvPr>
          <p:cNvSpPr>
            <a:spLocks xmlns:a="http://schemas.openxmlformats.org/drawingml/2006/main" noGrp="1"/>
          </p:cNvSpPr>
          <p:nvPr/>
        </p:nvSpPr>
        <p:spPr>
          <a:xfrm xmlns:a="http://schemas.openxmlformats.org/drawingml/2006/main">
            <a:off x="8420100" y="40862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Act</a:t>
            </a:r>
          </a:p>
        </p:txBody>
      </p:sp>
      <p:sp>
        <p:nvSpPr>
          <p:cNvPr id="23" name="">
            <a:extLst xmlns:a="http://schemas.openxmlformats.org/drawingml/2006/main">
              <a:ext uri="{FF2B5EF4-FFF2-40B4-BE49-F238E27FC236}">
                <a16:creationId xmlns:a16="http://schemas.microsoft.com/office/drawing/2014/main" id="{62D6FD21-B744-4F9D-8C71-95A72E52B393}"/>
              </a:ext>
            </a:extLst>
          </p:cNvPr>
          <p:cNvSpPr>
            <a:spLocks xmlns:a="http://schemas.openxmlformats.org/drawingml/2006/main" noGrp="1"/>
          </p:cNvSpPr>
          <p:nvPr/>
        </p:nvSpPr>
        <p:spPr>
          <a:xfrm xmlns:a="http://schemas.openxmlformats.org/drawingml/2006/main">
            <a:off x="8420100" y="442912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FD0E1"/>
                </a:solidFill>
                <a:latin typeface="Segoe UI"/>
                <a:ea typeface="Segoe UI"/>
                <a:cs typeface="Segoe UI"/>
              </a:defRPr>
            </a:pPr>
            <a:r>
              <a:rPr sz="1050" b="0">
                <a:solidFill>
                  <a:srgbClr val="BFD0E1"/>
                </a:solidFill>
                <a:latin typeface="Segoe UI"/>
                <a:ea typeface="Segoe UI"/>
                <a:cs typeface="Segoe UI"/>
              </a:rPr>
              <a:t>Use clearer information for operations</a:t>
            </a:r>
          </a:p>
        </p:txBody>
      </p:sp>
      <p:sp>
        <p:nvSpPr>
          <p:cNvPr id="24" name="">
            <a:extLst xmlns:a="http://schemas.openxmlformats.org/drawingml/2006/main">
              <a:ext uri="{FF2B5EF4-FFF2-40B4-BE49-F238E27FC236}">
                <a16:creationId xmlns:a16="http://schemas.microsoft.com/office/drawing/2014/main" id="{48C5C06A-1023-44E8-B79A-DA1F5E9B9B4E}"/>
              </a:ext>
            </a:extLst>
          </p:cNvPr>
          <p:cNvSpPr>
            <a:spLocks xmlns:a="http://schemas.openxmlformats.org/drawingml/2006/main" noGrp="1"/>
          </p:cNvSpPr>
          <p:nvPr/>
        </p:nvSpPr>
        <p:spPr>
          <a:xfrm xmlns:a="http://schemas.openxmlformats.org/drawingml/2006/main">
            <a:off x="7658100" y="53911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25B7F4"/>
                </a:solidFill>
                <a:latin typeface="Segoe UI"/>
                <a:ea typeface="Segoe UI"/>
                <a:cs typeface="Segoe UI"/>
              </a:defRPr>
            </a:pPr>
            <a:r>
              <a:rPr sz="1050" b="1">
                <a:solidFill>
                  <a:srgbClr val="25B7F4"/>
                </a:solidFill>
                <a:latin typeface="Segoe UI"/>
                <a:ea typeface="Segoe UI"/>
                <a:cs typeface="Segoe UI"/>
              </a:rPr>
              <a:t>Standalone application</a:t>
            </a:r>
          </a:p>
        </p:txBody>
      </p:sp>
      <p:sp>
        <p:nvSpPr>
          <p:cNvPr id="25" name="">
            <a:extLst xmlns:a="http://schemas.openxmlformats.org/drawingml/2006/main">
              <a:ext uri="{FF2B5EF4-FFF2-40B4-BE49-F238E27FC236}">
                <a16:creationId xmlns:a16="http://schemas.microsoft.com/office/drawing/2014/main" id="{ED6616AB-4839-4284-8976-3BAAD4DC08CE}"/>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FA6BF"/>
                </a:solidFill>
                <a:latin typeface="Segoe UI"/>
                <a:ea typeface="Segoe UI"/>
                <a:cs typeface="Segoe UI"/>
              </a:defRPr>
            </a:pPr>
            <a:r>
              <a:rPr sz="825" b="1">
                <a:solidFill>
                  <a:srgbClr val="8FA6BF"/>
                </a:solidFill>
                <a:latin typeface="Segoe UI"/>
                <a:ea typeface="Segoe UI"/>
                <a:cs typeface="Segoe UI"/>
              </a:rPr>
              <a:t>01</a:t>
            </a:r>
          </a:p>
        </p:txBody>
      </p:sp>
    </p:spTree>
    <p:extLst>
      <p:ext uri="{BB962C8B-B14F-4D97-AF65-F5344CB8AC3E}">
        <p14:creationId xmlns:p14="http://schemas.microsoft.com/office/powerpoint/2010/main" val="88601371"/>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DC3636A-E690-45C5-85FC-BA0F29ACCD52}"/>
              </a:ext>
            </a:extLst>
          </p:cNvPr>
          <p:cNvSpPr>
            <a:spLocks xmlns:a="http://schemas.openxmlformats.org/drawingml/2006/main" noGrp="1"/>
          </p:cNvSpPr>
          <p:nvPr/>
        </p:nvSpPr>
        <p:spPr>
          <a:xfrm xmlns:a="http://schemas.openxmlformats.org/drawingml/2006/main">
            <a:off x="685800" y="4572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0243E"/>
                </a:solidFill>
                <a:latin typeface="Segoe UI"/>
                <a:ea typeface="Segoe UI"/>
                <a:cs typeface="Segoe UI"/>
              </a:defRPr>
            </a:pPr>
            <a:r>
              <a:rPr sz="2550" b="1">
                <a:solidFill>
                  <a:srgbClr val="10243E"/>
                </a:solidFill>
                <a:latin typeface="Segoe UI"/>
                <a:ea typeface="Segoe UI"/>
                <a:cs typeface="Segoe UI"/>
              </a:rPr>
              <a:t>Why Phoenix was built</a:t>
            </a:r>
          </a:p>
        </p:txBody>
      </p:sp>
      <p:sp>
        <p:nvSpPr>
          <p:cNvPr id="2" name="">
            <a:extLst xmlns:a="http://schemas.openxmlformats.org/drawingml/2006/main">
              <a:ext uri="{FF2B5EF4-FFF2-40B4-BE49-F238E27FC236}">
                <a16:creationId xmlns:a16="http://schemas.microsoft.com/office/drawing/2014/main" id="{6810230E-3AF1-4972-8C30-5735C27DCB83}"/>
              </a:ext>
            </a:extLst>
          </p:cNvPr>
          <p:cNvSpPr>
            <a:spLocks xmlns:a="http://schemas.openxmlformats.org/drawingml/2006/main" noGrp="1"/>
          </p:cNvSpPr>
          <p:nvPr/>
        </p:nvSpPr>
        <p:spPr>
          <a:xfrm xmlns:a="http://schemas.openxmlformats.org/drawingml/2006/main">
            <a:off x="685800" y="1028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78D"/>
                </a:solidFill>
                <a:latin typeface="Segoe UI"/>
                <a:ea typeface="Segoe UI"/>
                <a:cs typeface="Segoe UI"/>
              </a:defRPr>
            </a:pPr>
            <a:r>
              <a:rPr sz="1200" b="0">
                <a:solidFill>
                  <a:srgbClr val="66778D"/>
                </a:solidFill>
                <a:latin typeface="Segoe UI"/>
                <a:ea typeface="Segoe UI"/>
                <a:cs typeface="Segoe UI"/>
              </a:rPr>
              <a:t>The Webex migration removed the old access path and created a need for a dedicated solution</a:t>
            </a:r>
          </a:p>
        </p:txBody>
      </p:sp>
      <p:sp>
        <p:nvSpPr>
          <p:cNvPr id="3" name="">
            <a:extLst xmlns:a="http://schemas.openxmlformats.org/drawingml/2006/main">
              <a:ext uri="{FF2B5EF4-FFF2-40B4-BE49-F238E27FC236}">
                <a16:creationId xmlns:a16="http://schemas.microsoft.com/office/drawing/2014/main" id="{3E3C873F-C786-45B7-8C8F-E80DB942A841}"/>
              </a:ext>
            </a:extLst>
          </p:cNvPr>
          <p:cNvSpPr>
            <a:spLocks xmlns:a="http://schemas.openxmlformats.org/drawingml/2006/main" noGrp="1"/>
          </p:cNvSpPr>
          <p:nvPr/>
        </p:nvSpPr>
        <p:spPr>
          <a:xfrm xmlns:a="http://schemas.openxmlformats.org/drawingml/2006/main">
            <a:off x="685800" y="1581150"/>
            <a:ext cx="10820400" cy="19050"/>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FF6423-4DE4-4D0F-9D2B-EED91E6E8511}"/>
              </a:ext>
            </a:extLst>
          </p:cNvPr>
          <p:cNvSpPr>
            <a:spLocks xmlns:a="http://schemas.openxmlformats.org/drawingml/2006/main" noGrp="1"/>
          </p:cNvSpPr>
          <p:nvPr/>
        </p:nvSpPr>
        <p:spPr>
          <a:xfrm xmlns:a="http://schemas.openxmlformats.org/drawingml/2006/main">
            <a:off x="685800" y="186690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7A8796"/>
                </a:solidFill>
                <a:latin typeface="Segoe UI"/>
                <a:ea typeface="Segoe UI"/>
                <a:cs typeface="Segoe UI"/>
              </a:defRPr>
            </a:pPr>
            <a:r>
              <a:rPr sz="3300" b="1">
                <a:solidFill>
                  <a:srgbClr val="7A8796"/>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8A3557CE-2481-41F7-A754-CC62AD48834A}"/>
              </a:ext>
            </a:extLst>
          </p:cNvPr>
          <p:cNvSpPr>
            <a:spLocks xmlns:a="http://schemas.openxmlformats.org/drawingml/2006/main" noGrp="1"/>
          </p:cNvSpPr>
          <p:nvPr/>
        </p:nvSpPr>
        <p:spPr>
          <a:xfrm xmlns:a="http://schemas.openxmlformats.org/drawingml/2006/main">
            <a:off x="1562100" y="19716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7A8796"/>
                </a:solidFill>
                <a:latin typeface="Segoe UI"/>
                <a:ea typeface="Segoe UI"/>
                <a:cs typeface="Segoe UI"/>
              </a:defRPr>
            </a:pPr>
            <a:r>
              <a:rPr sz="900" b="1">
                <a:solidFill>
                  <a:srgbClr val="7A8796"/>
                </a:solidFill>
                <a:latin typeface="Segoe UI"/>
                <a:ea typeface="Segoe UI"/>
                <a:cs typeface="Segoe UI"/>
              </a:rPr>
              <a:t>BEFORE</a:t>
            </a:r>
          </a:p>
        </p:txBody>
      </p:sp>
      <p:sp>
        <p:nvSpPr>
          <p:cNvPr id="6" name="">
            <a:extLst xmlns:a="http://schemas.openxmlformats.org/drawingml/2006/main">
              <a:ext uri="{FF2B5EF4-FFF2-40B4-BE49-F238E27FC236}">
                <a16:creationId xmlns:a16="http://schemas.microsoft.com/office/drawing/2014/main" id="{D34D46AC-E2B6-4260-A94F-F46D6D02673F}"/>
              </a:ext>
            </a:extLst>
          </p:cNvPr>
          <p:cNvSpPr>
            <a:spLocks xmlns:a="http://schemas.openxmlformats.org/drawingml/2006/main" noGrp="1"/>
          </p:cNvSpPr>
          <p:nvPr/>
        </p:nvSpPr>
        <p:spPr>
          <a:xfrm xmlns:a="http://schemas.openxmlformats.org/drawingml/2006/main">
            <a:off x="685800" y="2571750"/>
            <a:ext cx="2667000" cy="47625"/>
          </a:xfrm>
          <a:prstGeom xmlns:a="http://schemas.openxmlformats.org/drawingml/2006/main" prst="rect">
            <a:avLst/>
          </a:prstGeom>
          <a:solidFill xmlns:a="http://schemas.openxmlformats.org/drawingml/2006/main">
            <a:srgbClr val="7A879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FF85B4-CEA8-4A94-835A-7FB6A777EAB3}"/>
              </a:ext>
            </a:extLst>
          </p:cNvPr>
          <p:cNvSpPr>
            <a:spLocks xmlns:a="http://schemas.openxmlformats.org/drawingml/2006/main" noGrp="1"/>
          </p:cNvSpPr>
          <p:nvPr/>
        </p:nvSpPr>
        <p:spPr>
          <a:xfrm xmlns:a="http://schemas.openxmlformats.org/drawingml/2006/main">
            <a:off x="685800" y="2838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243E"/>
                </a:solidFill>
                <a:latin typeface="Segoe UI"/>
                <a:ea typeface="Segoe UI"/>
                <a:cs typeface="Segoe UI"/>
              </a:defRPr>
            </a:pPr>
            <a:r>
              <a:rPr sz="1875" b="1">
                <a:solidFill>
                  <a:srgbClr val="10243E"/>
                </a:solidFill>
                <a:latin typeface="Segoe UI"/>
                <a:ea typeface="Segoe UI"/>
                <a:cs typeface="Segoe UI"/>
              </a:rPr>
              <a:t>Genie Webex bot</a:t>
            </a:r>
          </a:p>
        </p:txBody>
      </p:sp>
      <p:sp>
        <p:nvSpPr>
          <p:cNvPr id="8" name="">
            <a:extLst xmlns:a="http://schemas.openxmlformats.org/drawingml/2006/main">
              <a:ext uri="{FF2B5EF4-FFF2-40B4-BE49-F238E27FC236}">
                <a16:creationId xmlns:a16="http://schemas.microsoft.com/office/drawing/2014/main" id="{B3B3BCF8-9034-43C2-BBC3-725F8DC97D90}"/>
              </a:ext>
            </a:extLst>
          </p:cNvPr>
          <p:cNvSpPr>
            <a:spLocks xmlns:a="http://schemas.openxmlformats.org/drawingml/2006/main" noGrp="1"/>
          </p:cNvSpPr>
          <p:nvPr/>
        </p:nvSpPr>
        <p:spPr>
          <a:xfrm xmlns:a="http://schemas.openxmlformats.org/drawingml/2006/main">
            <a:off x="685800" y="3371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78D"/>
                </a:solidFill>
                <a:latin typeface="Segoe UI"/>
                <a:ea typeface="Segoe UI"/>
                <a:cs typeface="Segoe UI"/>
              </a:defRPr>
            </a:pPr>
            <a:r>
              <a:rPr sz="1275" b="0">
                <a:solidFill>
                  <a:srgbClr val="66778D"/>
                </a:solidFill>
                <a:latin typeface="Segoe UI"/>
                <a:ea typeface="Segoe UI"/>
                <a:cs typeface="Segoe UI"/>
              </a:rPr>
              <a:t>Users requested batch details in Webex. The bot generated a static HTML page.</a:t>
            </a:r>
          </a:p>
        </p:txBody>
      </p:sp>
      <p:sp>
        <p:nvSpPr>
          <p:cNvPr id="9" name="">
            <a:extLst xmlns:a="http://schemas.openxmlformats.org/drawingml/2006/main">
              <a:ext uri="{FF2B5EF4-FFF2-40B4-BE49-F238E27FC236}">
                <a16:creationId xmlns:a16="http://schemas.microsoft.com/office/drawing/2014/main" id="{5A90557B-6D2E-45E1-B9CC-27FE56CC0C59}"/>
              </a:ext>
            </a:extLst>
          </p:cNvPr>
          <p:cNvSpPr>
            <a:spLocks xmlns:a="http://schemas.openxmlformats.org/drawingml/2006/main" noGrp="1"/>
          </p:cNvSpPr>
          <p:nvPr/>
        </p:nvSpPr>
        <p:spPr>
          <a:xfrm xmlns:a="http://schemas.openxmlformats.org/drawingml/2006/main">
            <a:off x="3676650" y="2762250"/>
            <a:ext cx="266700" cy="266700"/>
          </a:xfrm>
          <a:prstGeom xmlns:a="http://schemas.openxmlformats.org/drawingml/2006/main" prst="roundRect">
            <a:avLst>
              <a:gd name="adj" fmla="val 50000"/>
            </a:avLst>
          </a:prstGeom>
          <a:solidFill xmlns:a="http://schemas.openxmlformats.org/drawingml/2006/main">
            <a:srgbClr val="EAF5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20BD31-BF44-4ECA-B4D8-B9330E9C7454}"/>
              </a:ext>
            </a:extLst>
          </p:cNvPr>
          <p:cNvSpPr>
            <a:spLocks xmlns:a="http://schemas.openxmlformats.org/drawingml/2006/main" noGrp="1"/>
          </p:cNvSpPr>
          <p:nvPr/>
        </p:nvSpPr>
        <p:spPr>
          <a:xfrm xmlns:a="http://schemas.openxmlformats.org/drawingml/2006/main">
            <a:off x="3676650" y="2762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467D2"/>
                </a:solidFill>
                <a:latin typeface="Segoe UI"/>
                <a:ea typeface="Segoe UI"/>
                <a:cs typeface="Segoe UI"/>
              </a:defRPr>
            </a:pPr>
            <a:r>
              <a:rPr sz="1350" b="1">
                <a:solidFill>
                  <a:srgbClr val="1467D2"/>
                </a:solidFill>
                <a:latin typeface="Segoe UI"/>
                <a:ea typeface="Segoe UI"/>
                <a:cs typeface="Segoe UI"/>
              </a:rPr>
              <a:t>&gt;</a:t>
            </a:r>
          </a:p>
        </p:txBody>
      </p:sp>
      <p:sp>
        <p:nvSpPr>
          <p:cNvPr id="11" name="">
            <a:extLst xmlns:a="http://schemas.openxmlformats.org/drawingml/2006/main">
              <a:ext uri="{FF2B5EF4-FFF2-40B4-BE49-F238E27FC236}">
                <a16:creationId xmlns:a16="http://schemas.microsoft.com/office/drawing/2014/main" id="{FDDCCAB5-7392-4A41-A8B2-6197586A4710}"/>
              </a:ext>
            </a:extLst>
          </p:cNvPr>
          <p:cNvSpPr>
            <a:spLocks xmlns:a="http://schemas.openxmlformats.org/drawingml/2006/main" noGrp="1"/>
          </p:cNvSpPr>
          <p:nvPr/>
        </p:nvSpPr>
        <p:spPr>
          <a:xfrm xmlns:a="http://schemas.openxmlformats.org/drawingml/2006/main">
            <a:off x="4095750" y="186690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0243E"/>
                </a:solidFill>
                <a:latin typeface="Segoe UI"/>
                <a:ea typeface="Segoe UI"/>
                <a:cs typeface="Segoe UI"/>
              </a:defRPr>
            </a:pPr>
            <a:r>
              <a:rPr sz="3300" b="1">
                <a:solidFill>
                  <a:srgbClr val="10243E"/>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1E38F263-82F9-4991-8821-D1F1A4C63B66}"/>
              </a:ext>
            </a:extLst>
          </p:cNvPr>
          <p:cNvSpPr>
            <a:spLocks xmlns:a="http://schemas.openxmlformats.org/drawingml/2006/main" noGrp="1"/>
          </p:cNvSpPr>
          <p:nvPr/>
        </p:nvSpPr>
        <p:spPr>
          <a:xfrm xmlns:a="http://schemas.openxmlformats.org/drawingml/2006/main">
            <a:off x="4972050" y="19716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243E"/>
                </a:solidFill>
                <a:latin typeface="Segoe UI"/>
                <a:ea typeface="Segoe UI"/>
                <a:cs typeface="Segoe UI"/>
              </a:defRPr>
            </a:pPr>
            <a:r>
              <a:rPr sz="900" b="1">
                <a:solidFill>
                  <a:srgbClr val="10243E"/>
                </a:solidFill>
                <a:latin typeface="Segoe UI"/>
                <a:ea typeface="Segoe UI"/>
                <a:cs typeface="Segoe UI"/>
              </a:rPr>
              <a:t>CHANGE</a:t>
            </a:r>
          </a:p>
        </p:txBody>
      </p:sp>
      <p:sp>
        <p:nvSpPr>
          <p:cNvPr id="13" name="">
            <a:extLst xmlns:a="http://schemas.openxmlformats.org/drawingml/2006/main">
              <a:ext uri="{FF2B5EF4-FFF2-40B4-BE49-F238E27FC236}">
                <a16:creationId xmlns:a16="http://schemas.microsoft.com/office/drawing/2014/main" id="{81B7C044-CCA2-4D8E-A9A6-8551CFC92D68}"/>
              </a:ext>
            </a:extLst>
          </p:cNvPr>
          <p:cNvSpPr>
            <a:spLocks xmlns:a="http://schemas.openxmlformats.org/drawingml/2006/main" noGrp="1"/>
          </p:cNvSpPr>
          <p:nvPr/>
        </p:nvSpPr>
        <p:spPr>
          <a:xfrm xmlns:a="http://schemas.openxmlformats.org/drawingml/2006/main">
            <a:off x="4095750" y="2571750"/>
            <a:ext cx="2667000" cy="47625"/>
          </a:xfrm>
          <a:prstGeom xmlns:a="http://schemas.openxmlformats.org/drawingml/2006/main" prst="rect">
            <a:avLst/>
          </a:prstGeom>
          <a:solidFill xmlns:a="http://schemas.openxmlformats.org/drawingml/2006/main">
            <a:srgbClr val="1024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D20F07-486C-41D9-B34C-B9BA91F9D38A}"/>
              </a:ext>
            </a:extLst>
          </p:cNvPr>
          <p:cNvSpPr>
            <a:spLocks xmlns:a="http://schemas.openxmlformats.org/drawingml/2006/main" noGrp="1"/>
          </p:cNvSpPr>
          <p:nvPr/>
        </p:nvSpPr>
        <p:spPr>
          <a:xfrm xmlns:a="http://schemas.openxmlformats.org/drawingml/2006/main">
            <a:off x="4095750" y="2838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243E"/>
                </a:solidFill>
                <a:latin typeface="Segoe UI"/>
                <a:ea typeface="Segoe UI"/>
                <a:cs typeface="Segoe UI"/>
              </a:defRPr>
            </a:pPr>
            <a:r>
              <a:rPr sz="1875" b="1">
                <a:solidFill>
                  <a:srgbClr val="10243E"/>
                </a:solidFill>
                <a:latin typeface="Segoe UI"/>
                <a:ea typeface="Segoe UI"/>
                <a:cs typeface="Segoe UI"/>
              </a:rPr>
              <a:t>Webex retired</a:t>
            </a:r>
          </a:p>
        </p:txBody>
      </p:sp>
      <p:sp>
        <p:nvSpPr>
          <p:cNvPr id="15" name="">
            <a:extLst xmlns:a="http://schemas.openxmlformats.org/drawingml/2006/main">
              <a:ext uri="{FF2B5EF4-FFF2-40B4-BE49-F238E27FC236}">
                <a16:creationId xmlns:a16="http://schemas.microsoft.com/office/drawing/2014/main" id="{1255E87D-3CFF-4C0B-B810-737787B02230}"/>
              </a:ext>
            </a:extLst>
          </p:cNvPr>
          <p:cNvSpPr>
            <a:spLocks xmlns:a="http://schemas.openxmlformats.org/drawingml/2006/main" noGrp="1"/>
          </p:cNvSpPr>
          <p:nvPr/>
        </p:nvSpPr>
        <p:spPr>
          <a:xfrm xmlns:a="http://schemas.openxmlformats.org/drawingml/2006/main">
            <a:off x="4095750" y="3371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78D"/>
                </a:solidFill>
                <a:latin typeface="Segoe UI"/>
                <a:ea typeface="Segoe UI"/>
                <a:cs typeface="Segoe UI"/>
              </a:defRPr>
            </a:pPr>
            <a:r>
              <a:rPr sz="1275" b="0">
                <a:solidFill>
                  <a:srgbClr val="66778D"/>
                </a:solidFill>
                <a:latin typeface="Segoe UI"/>
                <a:ea typeface="Segoe UI"/>
                <a:cs typeface="Segoe UI"/>
              </a:rPr>
              <a:t>The move from Webex to Microsoft Teams deprecated the Genie bot and its access route.</a:t>
            </a:r>
          </a:p>
        </p:txBody>
      </p:sp>
      <p:sp>
        <p:nvSpPr>
          <p:cNvPr id="16" name="">
            <a:extLst xmlns:a="http://schemas.openxmlformats.org/drawingml/2006/main">
              <a:ext uri="{FF2B5EF4-FFF2-40B4-BE49-F238E27FC236}">
                <a16:creationId xmlns:a16="http://schemas.microsoft.com/office/drawing/2014/main" id="{CEB84D24-5D05-4EE8-B80F-0A0B593E416B}"/>
              </a:ext>
            </a:extLst>
          </p:cNvPr>
          <p:cNvSpPr>
            <a:spLocks xmlns:a="http://schemas.openxmlformats.org/drawingml/2006/main" noGrp="1"/>
          </p:cNvSpPr>
          <p:nvPr/>
        </p:nvSpPr>
        <p:spPr>
          <a:xfrm xmlns:a="http://schemas.openxmlformats.org/drawingml/2006/main">
            <a:off x="7086600" y="2762250"/>
            <a:ext cx="266700" cy="266700"/>
          </a:xfrm>
          <a:prstGeom xmlns:a="http://schemas.openxmlformats.org/drawingml/2006/main" prst="roundRect">
            <a:avLst>
              <a:gd name="adj" fmla="val 50000"/>
            </a:avLst>
          </a:prstGeom>
          <a:solidFill xmlns:a="http://schemas.openxmlformats.org/drawingml/2006/main">
            <a:srgbClr val="EAF5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30B37EF-72D7-4C35-8C9C-3BDA3E6EB029}"/>
              </a:ext>
            </a:extLst>
          </p:cNvPr>
          <p:cNvSpPr>
            <a:spLocks xmlns:a="http://schemas.openxmlformats.org/drawingml/2006/main" noGrp="1"/>
          </p:cNvSpPr>
          <p:nvPr/>
        </p:nvSpPr>
        <p:spPr>
          <a:xfrm xmlns:a="http://schemas.openxmlformats.org/drawingml/2006/main">
            <a:off x="7086600" y="2762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467D2"/>
                </a:solidFill>
                <a:latin typeface="Segoe UI"/>
                <a:ea typeface="Segoe UI"/>
                <a:cs typeface="Segoe UI"/>
              </a:defRPr>
            </a:pPr>
            <a:r>
              <a:rPr sz="1350" b="1">
                <a:solidFill>
                  <a:srgbClr val="1467D2"/>
                </a:solidFill>
                <a:latin typeface="Segoe UI"/>
                <a:ea typeface="Segoe UI"/>
                <a:cs typeface="Segoe UI"/>
              </a:rPr>
              <a:t>&gt;</a:t>
            </a:r>
          </a:p>
        </p:txBody>
      </p:sp>
      <p:sp>
        <p:nvSpPr>
          <p:cNvPr id="18" name="">
            <a:extLst xmlns:a="http://schemas.openxmlformats.org/drawingml/2006/main">
              <a:ext uri="{FF2B5EF4-FFF2-40B4-BE49-F238E27FC236}">
                <a16:creationId xmlns:a16="http://schemas.microsoft.com/office/drawing/2014/main" id="{9CC99A08-048E-4886-84C9-B7A5448FF1E1}"/>
              </a:ext>
            </a:extLst>
          </p:cNvPr>
          <p:cNvSpPr>
            <a:spLocks xmlns:a="http://schemas.openxmlformats.org/drawingml/2006/main" noGrp="1"/>
          </p:cNvSpPr>
          <p:nvPr/>
        </p:nvSpPr>
        <p:spPr>
          <a:xfrm xmlns:a="http://schemas.openxmlformats.org/drawingml/2006/main">
            <a:off x="7505700" y="186690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467D2"/>
                </a:solidFill>
                <a:latin typeface="Segoe UI"/>
                <a:ea typeface="Segoe UI"/>
                <a:cs typeface="Segoe UI"/>
              </a:defRPr>
            </a:pPr>
            <a:r>
              <a:rPr sz="3300" b="1">
                <a:solidFill>
                  <a:srgbClr val="1467D2"/>
                </a:solidFill>
                <a:latin typeface="Segoe UI"/>
                <a:ea typeface="Segoe UI"/>
                <a:cs typeface="Segoe UI"/>
              </a:rPr>
              <a:t>03</a:t>
            </a:r>
          </a:p>
        </p:txBody>
      </p:sp>
      <p:sp>
        <p:nvSpPr>
          <p:cNvPr id="19" name="">
            <a:extLst xmlns:a="http://schemas.openxmlformats.org/drawingml/2006/main">
              <a:ext uri="{FF2B5EF4-FFF2-40B4-BE49-F238E27FC236}">
                <a16:creationId xmlns:a16="http://schemas.microsoft.com/office/drawing/2014/main" id="{C3C43F29-4193-4D8C-980F-2912D19FF5A9}"/>
              </a:ext>
            </a:extLst>
          </p:cNvPr>
          <p:cNvSpPr>
            <a:spLocks xmlns:a="http://schemas.openxmlformats.org/drawingml/2006/main" noGrp="1"/>
          </p:cNvSpPr>
          <p:nvPr/>
        </p:nvSpPr>
        <p:spPr>
          <a:xfrm xmlns:a="http://schemas.openxmlformats.org/drawingml/2006/main">
            <a:off x="8382000" y="19716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RESPONSE</a:t>
            </a:r>
          </a:p>
        </p:txBody>
      </p:sp>
      <p:sp>
        <p:nvSpPr>
          <p:cNvPr id="20" name="">
            <a:extLst xmlns:a="http://schemas.openxmlformats.org/drawingml/2006/main">
              <a:ext uri="{FF2B5EF4-FFF2-40B4-BE49-F238E27FC236}">
                <a16:creationId xmlns:a16="http://schemas.microsoft.com/office/drawing/2014/main" id="{6D5A0022-4071-45F1-A05C-CD34ED212C61}"/>
              </a:ext>
            </a:extLst>
          </p:cNvPr>
          <p:cNvSpPr>
            <a:spLocks xmlns:a="http://schemas.openxmlformats.org/drawingml/2006/main" noGrp="1"/>
          </p:cNvSpPr>
          <p:nvPr/>
        </p:nvSpPr>
        <p:spPr>
          <a:xfrm xmlns:a="http://schemas.openxmlformats.org/drawingml/2006/main">
            <a:off x="7505700" y="2571750"/>
            <a:ext cx="2667000" cy="47625"/>
          </a:xfrm>
          <a:prstGeom xmlns:a="http://schemas.openxmlformats.org/drawingml/2006/main" prst="rect">
            <a:avLst/>
          </a:prstGeom>
          <a:solidFill xmlns:a="http://schemas.openxmlformats.org/drawingml/2006/main">
            <a:srgbClr val="1467D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9673CE-6800-4CF7-8632-864A26B12B15}"/>
              </a:ext>
            </a:extLst>
          </p:cNvPr>
          <p:cNvSpPr>
            <a:spLocks xmlns:a="http://schemas.openxmlformats.org/drawingml/2006/main" noGrp="1"/>
          </p:cNvSpPr>
          <p:nvPr/>
        </p:nvSpPr>
        <p:spPr>
          <a:xfrm xmlns:a="http://schemas.openxmlformats.org/drawingml/2006/main">
            <a:off x="7505700" y="2838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243E"/>
                </a:solidFill>
                <a:latin typeface="Segoe UI"/>
                <a:ea typeface="Segoe UI"/>
                <a:cs typeface="Segoe UI"/>
              </a:defRPr>
            </a:pPr>
            <a:r>
              <a:rPr sz="1875" b="1">
                <a:solidFill>
                  <a:srgbClr val="10243E"/>
                </a:solidFill>
                <a:latin typeface="Segoe UI"/>
                <a:ea typeface="Segoe UI"/>
                <a:cs typeface="Segoe UI"/>
              </a:rPr>
              <a:t>Standalone React app</a:t>
            </a:r>
          </a:p>
        </p:txBody>
      </p:sp>
      <p:sp>
        <p:nvSpPr>
          <p:cNvPr id="22" name="">
            <a:extLst xmlns:a="http://schemas.openxmlformats.org/drawingml/2006/main">
              <a:ext uri="{FF2B5EF4-FFF2-40B4-BE49-F238E27FC236}">
                <a16:creationId xmlns:a16="http://schemas.microsoft.com/office/drawing/2014/main" id="{FE17E840-968B-4A51-A506-49DB44F08C04}"/>
              </a:ext>
            </a:extLst>
          </p:cNvPr>
          <p:cNvSpPr>
            <a:spLocks xmlns:a="http://schemas.openxmlformats.org/drawingml/2006/main" noGrp="1"/>
          </p:cNvSpPr>
          <p:nvPr/>
        </p:nvSpPr>
        <p:spPr>
          <a:xfrm xmlns:a="http://schemas.openxmlformats.org/drawingml/2006/main">
            <a:off x="7505700" y="3371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78D"/>
                </a:solidFill>
                <a:latin typeface="Segoe UI"/>
                <a:ea typeface="Segoe UI"/>
                <a:cs typeface="Segoe UI"/>
              </a:defRPr>
            </a:pPr>
            <a:r>
              <a:rPr sz="1275" b="0">
                <a:solidFill>
                  <a:srgbClr val="66778D"/>
                </a:solidFill>
                <a:latin typeface="Segoe UI"/>
                <a:ea typeface="Segoe UI"/>
                <a:cs typeface="Segoe UI"/>
              </a:rPr>
              <a:t>Phoenix provides batch monitoring through its own application, independent of Teams.</a:t>
            </a:r>
          </a:p>
        </p:txBody>
      </p:sp>
      <p:sp>
        <p:nvSpPr>
          <p:cNvPr id="23" name="">
            <a:extLst xmlns:a="http://schemas.openxmlformats.org/drawingml/2006/main">
              <a:ext uri="{FF2B5EF4-FFF2-40B4-BE49-F238E27FC236}">
                <a16:creationId xmlns:a16="http://schemas.microsoft.com/office/drawing/2014/main" id="{673066C4-E63E-4B2F-85C7-9E945C5DB555}"/>
              </a:ext>
            </a:extLst>
          </p:cNvPr>
          <p:cNvSpPr>
            <a:spLocks xmlns:a="http://schemas.openxmlformats.org/drawingml/2006/main" noGrp="1"/>
          </p:cNvSpPr>
          <p:nvPr/>
        </p:nvSpPr>
        <p:spPr>
          <a:xfrm xmlns:a="http://schemas.openxmlformats.org/drawingml/2006/main">
            <a:off x="685800" y="4953000"/>
            <a:ext cx="10820400" cy="895350"/>
          </a:xfrm>
          <a:prstGeom xmlns:a="http://schemas.openxmlformats.org/drawingml/2006/main" prst="roundRect">
            <a:avLst>
              <a:gd name="adj" fmla="val 19149"/>
            </a:avLst>
          </a:prstGeom>
          <a:solidFill xmlns:a="http://schemas.openxmlformats.org/drawingml/2006/main">
            <a:srgbClr val="071B3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2E967D-9191-439A-918A-14BCCE83A410}"/>
              </a:ext>
            </a:extLst>
          </p:cNvPr>
          <p:cNvSpPr>
            <a:spLocks xmlns:a="http://schemas.openxmlformats.org/drawingml/2006/main" noGrp="1"/>
          </p:cNvSpPr>
          <p:nvPr/>
        </p:nvSpPr>
        <p:spPr>
          <a:xfrm xmlns:a="http://schemas.openxmlformats.org/drawingml/2006/main">
            <a:off x="1009650" y="5181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Microsoft Teams was the migration context</a:t>
            </a:r>
          </a:p>
        </p:txBody>
      </p:sp>
      <p:sp>
        <p:nvSpPr>
          <p:cNvPr id="25" name="">
            <a:extLst xmlns:a="http://schemas.openxmlformats.org/drawingml/2006/main">
              <a:ext uri="{FF2B5EF4-FFF2-40B4-BE49-F238E27FC236}">
                <a16:creationId xmlns:a16="http://schemas.microsoft.com/office/drawing/2014/main" id="{D039CB3D-88AE-4AE8-876C-78DB0730F28F}"/>
              </a:ext>
            </a:extLst>
          </p:cNvPr>
          <p:cNvSpPr>
            <a:spLocks xmlns:a="http://schemas.openxmlformats.org/drawingml/2006/main" noGrp="1"/>
          </p:cNvSpPr>
          <p:nvPr/>
        </p:nvSpPr>
        <p:spPr>
          <a:xfrm xmlns:a="http://schemas.openxmlformats.org/drawingml/2006/main">
            <a:off x="5334000" y="5143500"/>
            <a:ext cx="577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C9DAEA"/>
                </a:solidFill>
                <a:latin typeface="Segoe UI"/>
                <a:ea typeface="Segoe UI"/>
                <a:cs typeface="Segoe UI"/>
              </a:defRPr>
            </a:pPr>
            <a:r>
              <a:rPr sz="1275" b="0">
                <a:solidFill>
                  <a:srgbClr val="C9DAEA"/>
                </a:solidFill>
                <a:latin typeface="Segoe UI"/>
                <a:ea typeface="Segoe UI"/>
                <a:cs typeface="Segoe UI"/>
              </a:rPr>
              <a:t>Phoenix does not depend on Teams. It runs as a standalone monitoring application.</a:t>
            </a:r>
          </a:p>
        </p:txBody>
      </p:sp>
      <p:sp>
        <p:nvSpPr>
          <p:cNvPr id="26" name="">
            <a:extLst xmlns:a="http://schemas.openxmlformats.org/drawingml/2006/main">
              <a:ext uri="{FF2B5EF4-FFF2-40B4-BE49-F238E27FC236}">
                <a16:creationId xmlns:a16="http://schemas.microsoft.com/office/drawing/2014/main" id="{F7E96586-8AE9-4D38-8D06-1AB0C4EBD7CA}"/>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A9BB0"/>
                </a:solidFill>
                <a:latin typeface="Segoe UI"/>
                <a:ea typeface="Segoe UI"/>
                <a:cs typeface="Segoe UI"/>
              </a:defRPr>
            </a:pPr>
            <a:r>
              <a:rPr sz="825" b="1">
                <a:solidFill>
                  <a:srgbClr val="8A9BB0"/>
                </a:solidFill>
                <a:latin typeface="Segoe UI"/>
                <a:ea typeface="Segoe UI"/>
                <a:cs typeface="Segoe UI"/>
              </a:rPr>
              <a:t>02</a:t>
            </a:r>
          </a:p>
        </p:txBody>
      </p:sp>
    </p:spTree>
    <p:extLst>
      <p:ext uri="{BB962C8B-B14F-4D97-AF65-F5344CB8AC3E}">
        <p14:creationId xmlns:p14="http://schemas.microsoft.com/office/powerpoint/2010/main" val="10293704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AA4B30F-4976-40B8-894C-994F3EAF74BA}"/>
              </a:ext>
            </a:extLst>
          </p:cNvPr>
          <p:cNvSpPr>
            <a:spLocks xmlns:a="http://schemas.openxmlformats.org/drawingml/2006/main" noGrp="1"/>
          </p:cNvSpPr>
          <p:nvPr/>
        </p:nvSpPr>
        <p:spPr>
          <a:xfrm xmlns:a="http://schemas.openxmlformats.org/drawingml/2006/main">
            <a:off x="685800" y="4572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0243E"/>
                </a:solidFill>
                <a:latin typeface="Segoe UI"/>
                <a:ea typeface="Segoe UI"/>
                <a:cs typeface="Segoe UI"/>
              </a:defRPr>
            </a:pPr>
            <a:r>
              <a:rPr sz="2550" b="1">
                <a:solidFill>
                  <a:srgbClr val="10243E"/>
                </a:solidFill>
                <a:latin typeface="Segoe UI"/>
                <a:ea typeface="Segoe UI"/>
                <a:cs typeface="Segoe UI"/>
              </a:rPr>
              <a:t>What operators can do in Phoenix</a:t>
            </a:r>
          </a:p>
        </p:txBody>
      </p:sp>
      <p:sp>
        <p:nvSpPr>
          <p:cNvPr id="2" name="">
            <a:extLst xmlns:a="http://schemas.openxmlformats.org/drawingml/2006/main">
              <a:ext uri="{FF2B5EF4-FFF2-40B4-BE49-F238E27FC236}">
                <a16:creationId xmlns:a16="http://schemas.microsoft.com/office/drawing/2014/main" id="{213E3105-4598-475A-AADC-59F25410BC35}"/>
              </a:ext>
            </a:extLst>
          </p:cNvPr>
          <p:cNvSpPr>
            <a:spLocks xmlns:a="http://schemas.openxmlformats.org/drawingml/2006/main" noGrp="1"/>
          </p:cNvSpPr>
          <p:nvPr/>
        </p:nvSpPr>
        <p:spPr>
          <a:xfrm xmlns:a="http://schemas.openxmlformats.org/drawingml/2006/main">
            <a:off x="685800" y="1028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78D"/>
                </a:solidFill>
                <a:latin typeface="Segoe UI"/>
                <a:ea typeface="Segoe UI"/>
                <a:cs typeface="Segoe UI"/>
              </a:defRPr>
            </a:pPr>
            <a:r>
              <a:rPr sz="1200" b="0">
                <a:solidFill>
                  <a:srgbClr val="66778D"/>
                </a:solidFill>
                <a:latin typeface="Segoe UI"/>
                <a:ea typeface="Segoe UI"/>
                <a:cs typeface="Segoe UI"/>
              </a:rPr>
              <a:t>A focused monitoring experience that brings batch information into one application</a:t>
            </a:r>
          </a:p>
        </p:txBody>
      </p:sp>
      <p:sp>
        <p:nvSpPr>
          <p:cNvPr id="3" name="">
            <a:extLst xmlns:a="http://schemas.openxmlformats.org/drawingml/2006/main">
              <a:ext uri="{FF2B5EF4-FFF2-40B4-BE49-F238E27FC236}">
                <a16:creationId xmlns:a16="http://schemas.microsoft.com/office/drawing/2014/main" id="{F7B65996-0710-4103-8099-2964C99F5329}"/>
              </a:ext>
            </a:extLst>
          </p:cNvPr>
          <p:cNvSpPr>
            <a:spLocks xmlns:a="http://schemas.openxmlformats.org/drawingml/2006/main" noGrp="1"/>
          </p:cNvSpPr>
          <p:nvPr/>
        </p:nvSpPr>
        <p:spPr>
          <a:xfrm xmlns:a="http://schemas.openxmlformats.org/drawingml/2006/main">
            <a:off x="685800" y="1619250"/>
            <a:ext cx="6667500" cy="4095750"/>
          </a:xfrm>
          <a:prstGeom xmlns:a="http://schemas.openxmlformats.org/drawingml/2006/main" prst="roundRect">
            <a:avLst>
              <a:gd name="adj" fmla="val 5116"/>
            </a:avLst>
          </a:prstGeom>
          <a:solidFill xmlns:a="http://schemas.openxmlformats.org/drawingml/2006/main">
            <a:srgbClr val="EEF5FC"/>
          </a:solidFill>
          <a:ln xmlns:a="http://schemas.openxmlformats.org/drawingml/2006/main" w="9525">
            <a:solidFill>
              <a:srgbClr val="BFD8EE"/>
            </a:solidFill>
            <a:prstDash val="solid"/>
          </a:ln>
        </p:spPr>
      </p:sp>
      <p:sp>
        <p:nvSpPr>
          <p:cNvPr id="4" name="">
            <a:extLst xmlns:a="http://schemas.openxmlformats.org/drawingml/2006/main">
              <a:ext uri="{FF2B5EF4-FFF2-40B4-BE49-F238E27FC236}">
                <a16:creationId xmlns:a16="http://schemas.microsoft.com/office/drawing/2014/main" id="{76BC2962-9D6B-45D5-A9C4-2E5BF0F95711}"/>
              </a:ext>
            </a:extLst>
          </p:cNvPr>
          <p:cNvSpPr>
            <a:spLocks xmlns:a="http://schemas.openxmlformats.org/drawingml/2006/main" noGrp="1"/>
          </p:cNvSpPr>
          <p:nvPr/>
        </p:nvSpPr>
        <p:spPr>
          <a:xfrm xmlns:a="http://schemas.openxmlformats.org/drawingml/2006/main">
            <a:off x="895350" y="1847850"/>
            <a:ext cx="6248400" cy="342900"/>
          </a:xfrm>
          <a:prstGeom xmlns:a="http://schemas.openxmlformats.org/drawingml/2006/main" prst="roundRect">
            <a:avLst>
              <a:gd name="adj" fmla="val 27778"/>
            </a:avLst>
          </a:prstGeom>
          <a:solidFill xmlns:a="http://schemas.openxmlformats.org/drawingml/2006/main">
            <a:srgbClr val="071B3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6A0681-6CBA-4295-BD5E-692ED25C6E9B}"/>
              </a:ext>
            </a:extLst>
          </p:cNvPr>
          <p:cNvSpPr>
            <a:spLocks xmlns:a="http://schemas.openxmlformats.org/drawingml/2006/main" noGrp="1"/>
          </p:cNvSpPr>
          <p:nvPr/>
        </p:nvSpPr>
        <p:spPr>
          <a:xfrm xmlns:a="http://schemas.openxmlformats.org/drawingml/2006/main">
            <a:off x="1047750" y="1962150"/>
            <a:ext cx="95250" cy="95250"/>
          </a:xfrm>
          <a:prstGeom xmlns:a="http://schemas.openxmlformats.org/drawingml/2006/main" prst="roundRect">
            <a:avLst>
              <a:gd name="adj" fmla="val 50000"/>
            </a:avLst>
          </a:prstGeom>
          <a:solidFill xmlns:a="http://schemas.openxmlformats.org/drawingml/2006/main">
            <a:srgbClr val="FF6B6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DE7C3E-0B9B-48F1-82A2-F8C2CC9E3B23}"/>
              </a:ext>
            </a:extLst>
          </p:cNvPr>
          <p:cNvSpPr>
            <a:spLocks xmlns:a="http://schemas.openxmlformats.org/drawingml/2006/main" noGrp="1"/>
          </p:cNvSpPr>
          <p:nvPr/>
        </p:nvSpPr>
        <p:spPr>
          <a:xfrm xmlns:a="http://schemas.openxmlformats.org/drawingml/2006/main">
            <a:off x="1219200" y="1962150"/>
            <a:ext cx="95250" cy="95250"/>
          </a:xfrm>
          <a:prstGeom xmlns:a="http://schemas.openxmlformats.org/drawingml/2006/main" prst="roundRect">
            <a:avLst>
              <a:gd name="adj" fmla="val 50000"/>
            </a:avLst>
          </a:prstGeom>
          <a:solidFill xmlns:a="http://schemas.openxmlformats.org/drawingml/2006/main">
            <a:srgbClr val="FFD16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F075861-AD2E-418C-BD7F-7364892AD89E}"/>
              </a:ext>
            </a:extLst>
          </p:cNvPr>
          <p:cNvSpPr>
            <a:spLocks xmlns:a="http://schemas.openxmlformats.org/drawingml/2006/main" noGrp="1"/>
          </p:cNvSpPr>
          <p:nvPr/>
        </p:nvSpPr>
        <p:spPr>
          <a:xfrm xmlns:a="http://schemas.openxmlformats.org/drawingml/2006/main">
            <a:off x="1390650" y="1962150"/>
            <a:ext cx="95250" cy="95250"/>
          </a:xfrm>
          <a:prstGeom xmlns:a="http://schemas.openxmlformats.org/drawingml/2006/main" prst="roundRect">
            <a:avLst>
              <a:gd name="adj" fmla="val 50000"/>
            </a:avLst>
          </a:prstGeom>
          <a:solidFill xmlns:a="http://schemas.openxmlformats.org/drawingml/2006/main">
            <a:srgbClr val="4AD29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4DB2A3-A93D-4DCA-8350-24D81F894133}"/>
              </a:ext>
            </a:extLst>
          </p:cNvPr>
          <p:cNvSpPr>
            <a:spLocks xmlns:a="http://schemas.openxmlformats.org/drawingml/2006/main" noGrp="1"/>
          </p:cNvSpPr>
          <p:nvPr/>
        </p:nvSpPr>
        <p:spPr>
          <a:xfrm xmlns:a="http://schemas.openxmlformats.org/drawingml/2006/main">
            <a:off x="1428750" y="2857500"/>
            <a:ext cx="518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0243E"/>
                </a:solidFill>
                <a:latin typeface="Segoe UI"/>
                <a:ea typeface="Segoe UI"/>
                <a:cs typeface="Segoe UI"/>
              </a:defRPr>
            </a:pPr>
            <a:r>
              <a:rPr sz="1800" b="1">
                <a:solidFill>
                  <a:srgbClr val="10243E"/>
                </a:solidFill>
                <a:latin typeface="Segoe UI"/>
                <a:ea typeface="Segoe UI"/>
                <a:cs typeface="Segoe UI"/>
              </a:rPr>
              <a:t>DASHBOARD SCREENSHOT</a:t>
            </a:r>
          </a:p>
        </p:txBody>
      </p:sp>
      <p:sp>
        <p:nvSpPr>
          <p:cNvPr id="9" name="">
            <a:extLst xmlns:a="http://schemas.openxmlformats.org/drawingml/2006/main">
              <a:ext uri="{FF2B5EF4-FFF2-40B4-BE49-F238E27FC236}">
                <a16:creationId xmlns:a16="http://schemas.microsoft.com/office/drawing/2014/main" id="{B1CBEAED-7C69-4E41-A0AB-E311A876F2CE}"/>
              </a:ext>
            </a:extLst>
          </p:cNvPr>
          <p:cNvSpPr>
            <a:spLocks xmlns:a="http://schemas.openxmlformats.org/drawingml/2006/main" noGrp="1"/>
          </p:cNvSpPr>
          <p:nvPr/>
        </p:nvSpPr>
        <p:spPr>
          <a:xfrm xmlns:a="http://schemas.openxmlformats.org/drawingml/2006/main">
            <a:off x="1524000" y="3333750"/>
            <a:ext cx="499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78D"/>
                </a:solidFill>
                <a:latin typeface="Segoe UI"/>
                <a:ea typeface="Segoe UI"/>
                <a:cs typeface="Segoe UI"/>
              </a:defRPr>
            </a:pPr>
            <a:r>
              <a:rPr sz="1200" b="0">
                <a:solidFill>
                  <a:srgbClr val="66778D"/>
                </a:solidFill>
                <a:latin typeface="Segoe UI"/>
                <a:ea typeface="Segoe UI"/>
                <a:cs typeface="Segoe UI"/>
              </a:rPr>
              <a:t>Replace this area with the final Phoenix dashboard image</a:t>
            </a:r>
          </a:p>
        </p:txBody>
      </p:sp>
      <p:sp>
        <p:nvSpPr>
          <p:cNvPr id="10" name="">
            <a:extLst xmlns:a="http://schemas.openxmlformats.org/drawingml/2006/main">
              <a:ext uri="{FF2B5EF4-FFF2-40B4-BE49-F238E27FC236}">
                <a16:creationId xmlns:a16="http://schemas.microsoft.com/office/drawing/2014/main" id="{B0AE6EE1-5935-45DD-ADE0-EE5B4C74CD02}"/>
              </a:ext>
            </a:extLst>
          </p:cNvPr>
          <p:cNvSpPr>
            <a:spLocks xmlns:a="http://schemas.openxmlformats.org/drawingml/2006/main" noGrp="1"/>
          </p:cNvSpPr>
          <p:nvPr/>
        </p:nvSpPr>
        <p:spPr>
          <a:xfrm xmlns:a="http://schemas.openxmlformats.org/drawingml/2006/main">
            <a:off x="2095500" y="4095750"/>
            <a:ext cx="4038600" cy="19050"/>
          </a:xfrm>
          <a:prstGeom xmlns:a="http://schemas.openxmlformats.org/drawingml/2006/main" prst="rect">
            <a:avLst/>
          </a:prstGeom>
          <a:solidFill xmlns:a="http://schemas.openxmlformats.org/drawingml/2006/main">
            <a:srgbClr val="BFD8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7D4492-8D2C-4267-91C0-2499D8FD94D2}"/>
              </a:ext>
            </a:extLst>
          </p:cNvPr>
          <p:cNvSpPr>
            <a:spLocks xmlns:a="http://schemas.openxmlformats.org/drawingml/2006/main" noGrp="1"/>
          </p:cNvSpPr>
          <p:nvPr/>
        </p:nvSpPr>
        <p:spPr>
          <a:xfrm xmlns:a="http://schemas.openxmlformats.org/drawingml/2006/main">
            <a:off x="2952750" y="43243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467D2"/>
                </a:solidFill>
                <a:latin typeface="Segoe UI"/>
                <a:ea typeface="Segoe UI"/>
                <a:cs typeface="Segoe UI"/>
              </a:defRPr>
            </a:pPr>
            <a:r>
              <a:rPr sz="975" b="1">
                <a:solidFill>
                  <a:srgbClr val="1467D2"/>
                </a:solidFill>
                <a:latin typeface="Segoe UI"/>
                <a:ea typeface="Segoe UI"/>
                <a:cs typeface="Segoe UI"/>
              </a:rPr>
              <a:t>Image placeholder</a:t>
            </a:r>
          </a:p>
        </p:txBody>
      </p:sp>
      <p:sp>
        <p:nvSpPr>
          <p:cNvPr id="12" name="">
            <a:extLst xmlns:a="http://schemas.openxmlformats.org/drawingml/2006/main">
              <a:ext uri="{FF2B5EF4-FFF2-40B4-BE49-F238E27FC236}">
                <a16:creationId xmlns:a16="http://schemas.microsoft.com/office/drawing/2014/main" id="{D30AF2F6-E2E5-4958-BF53-C6D9427DEC1B}"/>
              </a:ext>
            </a:extLst>
          </p:cNvPr>
          <p:cNvSpPr>
            <a:spLocks xmlns:a="http://schemas.openxmlformats.org/drawingml/2006/main" noGrp="1"/>
          </p:cNvSpPr>
          <p:nvPr/>
        </p:nvSpPr>
        <p:spPr>
          <a:xfrm xmlns:a="http://schemas.openxmlformats.org/drawingml/2006/main">
            <a:off x="7810500" y="1638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01</a:t>
            </a:r>
          </a:p>
        </p:txBody>
      </p:sp>
      <p:sp>
        <p:nvSpPr>
          <p:cNvPr id="13" name="">
            <a:extLst xmlns:a="http://schemas.openxmlformats.org/drawingml/2006/main">
              <a:ext uri="{FF2B5EF4-FFF2-40B4-BE49-F238E27FC236}">
                <a16:creationId xmlns:a16="http://schemas.microsoft.com/office/drawing/2014/main" id="{AF2696D0-5298-4106-8603-7F3AAA77A95E}"/>
              </a:ext>
            </a:extLst>
          </p:cNvPr>
          <p:cNvSpPr>
            <a:spLocks xmlns:a="http://schemas.openxmlformats.org/drawingml/2006/main" noGrp="1"/>
          </p:cNvSpPr>
          <p:nvPr/>
        </p:nvSpPr>
        <p:spPr>
          <a:xfrm xmlns:a="http://schemas.openxmlformats.org/drawingml/2006/main">
            <a:off x="8286750" y="16192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Dashboard</a:t>
            </a:r>
          </a:p>
        </p:txBody>
      </p:sp>
      <p:sp>
        <p:nvSpPr>
          <p:cNvPr id="14" name="">
            <a:extLst xmlns:a="http://schemas.openxmlformats.org/drawingml/2006/main">
              <a:ext uri="{FF2B5EF4-FFF2-40B4-BE49-F238E27FC236}">
                <a16:creationId xmlns:a16="http://schemas.microsoft.com/office/drawing/2014/main" id="{6E390B18-BCF8-4911-81D8-778DE8FA43CE}"/>
              </a:ext>
            </a:extLst>
          </p:cNvPr>
          <p:cNvSpPr>
            <a:spLocks xmlns:a="http://schemas.openxmlformats.org/drawingml/2006/main" noGrp="1"/>
          </p:cNvSpPr>
          <p:nvPr/>
        </p:nvSpPr>
        <p:spPr>
          <a:xfrm xmlns:a="http://schemas.openxmlformats.org/drawingml/2006/main">
            <a:off x="8286750" y="19050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Single view of batch activity</a:t>
            </a:r>
          </a:p>
        </p:txBody>
      </p:sp>
      <p:sp>
        <p:nvSpPr>
          <p:cNvPr id="15" name="">
            <a:extLst xmlns:a="http://schemas.openxmlformats.org/drawingml/2006/main">
              <a:ext uri="{FF2B5EF4-FFF2-40B4-BE49-F238E27FC236}">
                <a16:creationId xmlns:a16="http://schemas.microsoft.com/office/drawing/2014/main" id="{F3CF281D-91E9-4F07-90E9-16092EC9130C}"/>
              </a:ext>
            </a:extLst>
          </p:cNvPr>
          <p:cNvSpPr>
            <a:spLocks xmlns:a="http://schemas.openxmlformats.org/drawingml/2006/main" noGrp="1"/>
          </p:cNvSpPr>
          <p:nvPr/>
        </p:nvSpPr>
        <p:spPr>
          <a:xfrm xmlns:a="http://schemas.openxmlformats.org/drawingml/2006/main">
            <a:off x="7810500" y="2257425"/>
            <a:ext cx="3524250" cy="9525"/>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F915AA-EF1F-4E80-9665-C5507395B18B}"/>
              </a:ext>
            </a:extLst>
          </p:cNvPr>
          <p:cNvSpPr>
            <a:spLocks xmlns:a="http://schemas.openxmlformats.org/drawingml/2006/main" noGrp="1"/>
          </p:cNvSpPr>
          <p:nvPr/>
        </p:nvSpPr>
        <p:spPr>
          <a:xfrm xmlns:a="http://schemas.openxmlformats.org/drawingml/2006/main">
            <a:off x="7810500" y="2324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02</a:t>
            </a:r>
          </a:p>
        </p:txBody>
      </p:sp>
      <p:sp>
        <p:nvSpPr>
          <p:cNvPr id="17" name="">
            <a:extLst xmlns:a="http://schemas.openxmlformats.org/drawingml/2006/main">
              <a:ext uri="{FF2B5EF4-FFF2-40B4-BE49-F238E27FC236}">
                <a16:creationId xmlns:a16="http://schemas.microsoft.com/office/drawing/2014/main" id="{DF3CB431-1AD3-414D-AB99-CA4F699A86E0}"/>
              </a:ext>
            </a:extLst>
          </p:cNvPr>
          <p:cNvSpPr>
            <a:spLocks xmlns:a="http://schemas.openxmlformats.org/drawingml/2006/main" noGrp="1"/>
          </p:cNvSpPr>
          <p:nvPr/>
        </p:nvSpPr>
        <p:spPr>
          <a:xfrm xmlns:a="http://schemas.openxmlformats.org/drawingml/2006/main">
            <a:off x="8286750" y="23050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Search</a:t>
            </a:r>
          </a:p>
        </p:txBody>
      </p:sp>
      <p:sp>
        <p:nvSpPr>
          <p:cNvPr id="18" name="">
            <a:extLst xmlns:a="http://schemas.openxmlformats.org/drawingml/2006/main">
              <a:ext uri="{FF2B5EF4-FFF2-40B4-BE49-F238E27FC236}">
                <a16:creationId xmlns:a16="http://schemas.microsoft.com/office/drawing/2014/main" id="{4DFAE92D-4A50-4CAF-8756-1FA1895A63EA}"/>
              </a:ext>
            </a:extLst>
          </p:cNvPr>
          <p:cNvSpPr>
            <a:spLocks xmlns:a="http://schemas.openxmlformats.org/drawingml/2006/main" noGrp="1"/>
          </p:cNvSpPr>
          <p:nvPr/>
        </p:nvSpPr>
        <p:spPr>
          <a:xfrm xmlns:a="http://schemas.openxmlformats.org/drawingml/2006/main">
            <a:off x="8286750" y="25908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Locate the required batch details quickly</a:t>
            </a:r>
          </a:p>
        </p:txBody>
      </p:sp>
      <p:sp>
        <p:nvSpPr>
          <p:cNvPr id="19" name="">
            <a:extLst xmlns:a="http://schemas.openxmlformats.org/drawingml/2006/main">
              <a:ext uri="{FF2B5EF4-FFF2-40B4-BE49-F238E27FC236}">
                <a16:creationId xmlns:a16="http://schemas.microsoft.com/office/drawing/2014/main" id="{48EC3839-1932-45AA-9D37-09562119A182}"/>
              </a:ext>
            </a:extLst>
          </p:cNvPr>
          <p:cNvSpPr>
            <a:spLocks xmlns:a="http://schemas.openxmlformats.org/drawingml/2006/main" noGrp="1"/>
          </p:cNvSpPr>
          <p:nvPr/>
        </p:nvSpPr>
        <p:spPr>
          <a:xfrm xmlns:a="http://schemas.openxmlformats.org/drawingml/2006/main">
            <a:off x="7810500" y="2943225"/>
            <a:ext cx="3524250" cy="9525"/>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82A6E5-2577-407A-A7D4-0C119062A3AE}"/>
              </a:ext>
            </a:extLst>
          </p:cNvPr>
          <p:cNvSpPr>
            <a:spLocks xmlns:a="http://schemas.openxmlformats.org/drawingml/2006/main" noGrp="1"/>
          </p:cNvSpPr>
          <p:nvPr/>
        </p:nvSpPr>
        <p:spPr>
          <a:xfrm xmlns:a="http://schemas.openxmlformats.org/drawingml/2006/main">
            <a:off x="7810500" y="3009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03</a:t>
            </a:r>
          </a:p>
        </p:txBody>
      </p:sp>
      <p:sp>
        <p:nvSpPr>
          <p:cNvPr id="21" name="">
            <a:extLst xmlns:a="http://schemas.openxmlformats.org/drawingml/2006/main">
              <a:ext uri="{FF2B5EF4-FFF2-40B4-BE49-F238E27FC236}">
                <a16:creationId xmlns:a16="http://schemas.microsoft.com/office/drawing/2014/main" id="{1299A779-70C6-45C1-944E-87393E1FAD63}"/>
              </a:ext>
            </a:extLst>
          </p:cNvPr>
          <p:cNvSpPr>
            <a:spLocks xmlns:a="http://schemas.openxmlformats.org/drawingml/2006/main" noGrp="1"/>
          </p:cNvSpPr>
          <p:nvPr/>
        </p:nvSpPr>
        <p:spPr>
          <a:xfrm xmlns:a="http://schemas.openxmlformats.org/drawingml/2006/main">
            <a:off x="8286750" y="29908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Filters</a:t>
            </a:r>
          </a:p>
        </p:txBody>
      </p:sp>
      <p:sp>
        <p:nvSpPr>
          <p:cNvPr id="22" name="">
            <a:extLst xmlns:a="http://schemas.openxmlformats.org/drawingml/2006/main">
              <a:ext uri="{FF2B5EF4-FFF2-40B4-BE49-F238E27FC236}">
                <a16:creationId xmlns:a16="http://schemas.microsoft.com/office/drawing/2014/main" id="{425DB535-89DB-41DC-8992-C7355428EAEA}"/>
              </a:ext>
            </a:extLst>
          </p:cNvPr>
          <p:cNvSpPr>
            <a:spLocks xmlns:a="http://schemas.openxmlformats.org/drawingml/2006/main" noGrp="1"/>
          </p:cNvSpPr>
          <p:nvPr/>
        </p:nvSpPr>
        <p:spPr>
          <a:xfrm xmlns:a="http://schemas.openxmlformats.org/drawingml/2006/main">
            <a:off x="8286750" y="3276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Narrow results by date, time, status and other fields</a:t>
            </a:r>
          </a:p>
        </p:txBody>
      </p:sp>
      <p:sp>
        <p:nvSpPr>
          <p:cNvPr id="23" name="">
            <a:extLst xmlns:a="http://schemas.openxmlformats.org/drawingml/2006/main">
              <a:ext uri="{FF2B5EF4-FFF2-40B4-BE49-F238E27FC236}">
                <a16:creationId xmlns:a16="http://schemas.microsoft.com/office/drawing/2014/main" id="{0FF61072-7BAA-4B35-8D59-194033904940}"/>
              </a:ext>
            </a:extLst>
          </p:cNvPr>
          <p:cNvSpPr>
            <a:spLocks xmlns:a="http://schemas.openxmlformats.org/drawingml/2006/main" noGrp="1"/>
          </p:cNvSpPr>
          <p:nvPr/>
        </p:nvSpPr>
        <p:spPr>
          <a:xfrm xmlns:a="http://schemas.openxmlformats.org/drawingml/2006/main">
            <a:off x="7810500" y="3629025"/>
            <a:ext cx="3524250" cy="9525"/>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8FD5D45-1BC5-4A49-8AB0-09358CD60DD0}"/>
              </a:ext>
            </a:extLst>
          </p:cNvPr>
          <p:cNvSpPr>
            <a:spLocks xmlns:a="http://schemas.openxmlformats.org/drawingml/2006/main" noGrp="1"/>
          </p:cNvSpPr>
          <p:nvPr/>
        </p:nvSpPr>
        <p:spPr>
          <a:xfrm xmlns:a="http://schemas.openxmlformats.org/drawingml/2006/main">
            <a:off x="7810500" y="3695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04</a:t>
            </a:r>
          </a:p>
        </p:txBody>
      </p:sp>
      <p:sp>
        <p:nvSpPr>
          <p:cNvPr id="25" name="">
            <a:extLst xmlns:a="http://schemas.openxmlformats.org/drawingml/2006/main">
              <a:ext uri="{FF2B5EF4-FFF2-40B4-BE49-F238E27FC236}">
                <a16:creationId xmlns:a16="http://schemas.microsoft.com/office/drawing/2014/main" id="{3C34AC8C-3982-44CE-9880-4DD552A78D43}"/>
              </a:ext>
            </a:extLst>
          </p:cNvPr>
          <p:cNvSpPr>
            <a:spLocks xmlns:a="http://schemas.openxmlformats.org/drawingml/2006/main" noGrp="1"/>
          </p:cNvSpPr>
          <p:nvPr/>
        </p:nvSpPr>
        <p:spPr>
          <a:xfrm xmlns:a="http://schemas.openxmlformats.org/drawingml/2006/main">
            <a:off x="8286750" y="36766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Monitoring</a:t>
            </a:r>
          </a:p>
        </p:txBody>
      </p:sp>
      <p:sp>
        <p:nvSpPr>
          <p:cNvPr id="26" name="">
            <a:extLst xmlns:a="http://schemas.openxmlformats.org/drawingml/2006/main">
              <a:ext uri="{FF2B5EF4-FFF2-40B4-BE49-F238E27FC236}">
                <a16:creationId xmlns:a16="http://schemas.microsoft.com/office/drawing/2014/main" id="{B77C3165-6DE1-4A49-A0D1-DE1DA1BF994E}"/>
              </a:ext>
            </a:extLst>
          </p:cNvPr>
          <p:cNvSpPr>
            <a:spLocks xmlns:a="http://schemas.openxmlformats.org/drawingml/2006/main" noGrp="1"/>
          </p:cNvSpPr>
          <p:nvPr/>
        </p:nvSpPr>
        <p:spPr>
          <a:xfrm xmlns:a="http://schemas.openxmlformats.org/drawingml/2006/main">
            <a:off x="8286750" y="39624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Improve visibility into processing activity</a:t>
            </a:r>
          </a:p>
        </p:txBody>
      </p:sp>
      <p:sp>
        <p:nvSpPr>
          <p:cNvPr id="27" name="">
            <a:extLst xmlns:a="http://schemas.openxmlformats.org/drawingml/2006/main">
              <a:ext uri="{FF2B5EF4-FFF2-40B4-BE49-F238E27FC236}">
                <a16:creationId xmlns:a16="http://schemas.microsoft.com/office/drawing/2014/main" id="{AE38FDB2-85AA-402C-8902-203733F390AA}"/>
              </a:ext>
            </a:extLst>
          </p:cNvPr>
          <p:cNvSpPr>
            <a:spLocks xmlns:a="http://schemas.openxmlformats.org/drawingml/2006/main" noGrp="1"/>
          </p:cNvSpPr>
          <p:nvPr/>
        </p:nvSpPr>
        <p:spPr>
          <a:xfrm xmlns:a="http://schemas.openxmlformats.org/drawingml/2006/main">
            <a:off x="7810500" y="4314825"/>
            <a:ext cx="3524250" cy="9525"/>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81DCDE1-F948-4353-B6F1-8E3DB4AF0893}"/>
              </a:ext>
            </a:extLst>
          </p:cNvPr>
          <p:cNvSpPr>
            <a:spLocks xmlns:a="http://schemas.openxmlformats.org/drawingml/2006/main" noGrp="1"/>
          </p:cNvSpPr>
          <p:nvPr/>
        </p:nvSpPr>
        <p:spPr>
          <a:xfrm xmlns:a="http://schemas.openxmlformats.org/drawingml/2006/main">
            <a:off x="7810500" y="43815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05</a:t>
            </a:r>
          </a:p>
        </p:txBody>
      </p:sp>
      <p:sp>
        <p:nvSpPr>
          <p:cNvPr id="29" name="">
            <a:extLst xmlns:a="http://schemas.openxmlformats.org/drawingml/2006/main">
              <a:ext uri="{FF2B5EF4-FFF2-40B4-BE49-F238E27FC236}">
                <a16:creationId xmlns:a16="http://schemas.microsoft.com/office/drawing/2014/main" id="{D569788E-9E57-414C-9B73-A2D22BE25D8F}"/>
              </a:ext>
            </a:extLst>
          </p:cNvPr>
          <p:cNvSpPr>
            <a:spLocks xmlns:a="http://schemas.openxmlformats.org/drawingml/2006/main" noGrp="1"/>
          </p:cNvSpPr>
          <p:nvPr/>
        </p:nvSpPr>
        <p:spPr>
          <a:xfrm xmlns:a="http://schemas.openxmlformats.org/drawingml/2006/main">
            <a:off x="8286750" y="43624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Security</a:t>
            </a:r>
          </a:p>
        </p:txBody>
      </p:sp>
      <p:sp>
        <p:nvSpPr>
          <p:cNvPr id="30" name="">
            <a:extLst xmlns:a="http://schemas.openxmlformats.org/drawingml/2006/main">
              <a:ext uri="{FF2B5EF4-FFF2-40B4-BE49-F238E27FC236}">
                <a16:creationId xmlns:a16="http://schemas.microsoft.com/office/drawing/2014/main" id="{3DD0C835-A2BC-4CAF-9EDB-B7C4C88C4053}"/>
              </a:ext>
            </a:extLst>
          </p:cNvPr>
          <p:cNvSpPr>
            <a:spLocks xmlns:a="http://schemas.openxmlformats.org/drawingml/2006/main" noGrp="1"/>
          </p:cNvSpPr>
          <p:nvPr/>
        </p:nvSpPr>
        <p:spPr>
          <a:xfrm xmlns:a="http://schemas.openxmlformats.org/drawingml/2006/main">
            <a:off x="8286750" y="46482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Use authenticated and controlled access</a:t>
            </a:r>
          </a:p>
        </p:txBody>
      </p:sp>
      <p:sp>
        <p:nvSpPr>
          <p:cNvPr id="31" name="">
            <a:extLst xmlns:a="http://schemas.openxmlformats.org/drawingml/2006/main">
              <a:ext uri="{FF2B5EF4-FFF2-40B4-BE49-F238E27FC236}">
                <a16:creationId xmlns:a16="http://schemas.microsoft.com/office/drawing/2014/main" id="{8182E133-5876-4C5E-B837-D06E27738760}"/>
              </a:ext>
            </a:extLst>
          </p:cNvPr>
          <p:cNvSpPr>
            <a:spLocks xmlns:a="http://schemas.openxmlformats.org/drawingml/2006/main" noGrp="1"/>
          </p:cNvSpPr>
          <p:nvPr/>
        </p:nvSpPr>
        <p:spPr>
          <a:xfrm xmlns:a="http://schemas.openxmlformats.org/drawingml/2006/main">
            <a:off x="7810500" y="5000625"/>
            <a:ext cx="3524250" cy="9525"/>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0E0CE54-7BAB-44A6-8B48-CE77AB4A08A3}"/>
              </a:ext>
            </a:extLst>
          </p:cNvPr>
          <p:cNvSpPr>
            <a:spLocks xmlns:a="http://schemas.openxmlformats.org/drawingml/2006/main" noGrp="1"/>
          </p:cNvSpPr>
          <p:nvPr/>
        </p:nvSpPr>
        <p:spPr>
          <a:xfrm xmlns:a="http://schemas.openxmlformats.org/drawingml/2006/main">
            <a:off x="7810500" y="5067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467D2"/>
                </a:solidFill>
                <a:latin typeface="Segoe UI"/>
                <a:ea typeface="Segoe UI"/>
                <a:cs typeface="Segoe UI"/>
              </a:defRPr>
            </a:pPr>
            <a:r>
              <a:rPr sz="900" b="1">
                <a:solidFill>
                  <a:srgbClr val="1467D2"/>
                </a:solidFill>
                <a:latin typeface="Segoe UI"/>
                <a:ea typeface="Segoe UI"/>
                <a:cs typeface="Segoe UI"/>
              </a:rPr>
              <a:t>06</a:t>
            </a:r>
          </a:p>
        </p:txBody>
      </p:sp>
      <p:sp>
        <p:nvSpPr>
          <p:cNvPr id="33" name="">
            <a:extLst xmlns:a="http://schemas.openxmlformats.org/drawingml/2006/main">
              <a:ext uri="{FF2B5EF4-FFF2-40B4-BE49-F238E27FC236}">
                <a16:creationId xmlns:a16="http://schemas.microsoft.com/office/drawing/2014/main" id="{4CF1B91E-3C0F-41B4-898B-1381853FD5AD}"/>
              </a:ext>
            </a:extLst>
          </p:cNvPr>
          <p:cNvSpPr>
            <a:spLocks xmlns:a="http://schemas.openxmlformats.org/drawingml/2006/main" noGrp="1"/>
          </p:cNvSpPr>
          <p:nvPr/>
        </p:nvSpPr>
        <p:spPr>
          <a:xfrm xmlns:a="http://schemas.openxmlformats.org/drawingml/2006/main">
            <a:off x="8286750" y="50482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43E"/>
                </a:solidFill>
                <a:latin typeface="Segoe UI"/>
                <a:ea typeface="Segoe UI"/>
                <a:cs typeface="Segoe UI"/>
              </a:defRPr>
            </a:pPr>
            <a:r>
              <a:rPr sz="1350" b="1">
                <a:solidFill>
                  <a:srgbClr val="10243E"/>
                </a:solidFill>
                <a:latin typeface="Segoe UI"/>
                <a:ea typeface="Segoe UI"/>
                <a:cs typeface="Segoe UI"/>
              </a:rPr>
              <a:t>Experience</a:t>
            </a:r>
          </a:p>
        </p:txBody>
      </p:sp>
      <p:sp>
        <p:nvSpPr>
          <p:cNvPr id="34" name="">
            <a:extLst xmlns:a="http://schemas.openxmlformats.org/drawingml/2006/main">
              <a:ext uri="{FF2B5EF4-FFF2-40B4-BE49-F238E27FC236}">
                <a16:creationId xmlns:a16="http://schemas.microsoft.com/office/drawing/2014/main" id="{CD235DAE-DEE3-4C95-8DCC-284A38AF1CFD}"/>
              </a:ext>
            </a:extLst>
          </p:cNvPr>
          <p:cNvSpPr>
            <a:spLocks xmlns:a="http://schemas.openxmlformats.org/drawingml/2006/main" noGrp="1"/>
          </p:cNvSpPr>
          <p:nvPr/>
        </p:nvSpPr>
        <p:spPr>
          <a:xfrm xmlns:a="http://schemas.openxmlformats.org/drawingml/2006/main">
            <a:off x="8286750" y="53340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78D"/>
                </a:solidFill>
                <a:latin typeface="Segoe UI"/>
                <a:ea typeface="Segoe UI"/>
                <a:cs typeface="Segoe UI"/>
              </a:defRPr>
            </a:pPr>
            <a:r>
              <a:rPr sz="1050" b="0">
                <a:solidFill>
                  <a:srgbClr val="66778D"/>
                </a:solidFill>
                <a:latin typeface="Segoe UI"/>
                <a:ea typeface="Segoe UI"/>
                <a:cs typeface="Segoe UI"/>
              </a:rPr>
              <a:t>Work in a modern, intuitive React interface</a:t>
            </a:r>
          </a:p>
        </p:txBody>
      </p:sp>
      <p:sp>
        <p:nvSpPr>
          <p:cNvPr id="35" name="">
            <a:extLst xmlns:a="http://schemas.openxmlformats.org/drawingml/2006/main">
              <a:ext uri="{FF2B5EF4-FFF2-40B4-BE49-F238E27FC236}">
                <a16:creationId xmlns:a16="http://schemas.microsoft.com/office/drawing/2014/main" id="{46FED1A4-5FD0-40E8-84A3-685F5C162DC3}"/>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A9BB0"/>
                </a:solidFill>
                <a:latin typeface="Segoe UI"/>
                <a:ea typeface="Segoe UI"/>
                <a:cs typeface="Segoe UI"/>
              </a:defRPr>
            </a:pPr>
            <a:r>
              <a:rPr sz="825" b="1">
                <a:solidFill>
                  <a:srgbClr val="8A9BB0"/>
                </a:solidFill>
                <a:latin typeface="Segoe UI"/>
                <a:ea typeface="Segoe UI"/>
                <a:cs typeface="Segoe UI"/>
              </a:rPr>
              <a:t>03</a:t>
            </a:r>
          </a:p>
        </p:txBody>
      </p:sp>
    </p:spTree>
    <p:extLst>
      <p:ext uri="{BB962C8B-B14F-4D97-AF65-F5344CB8AC3E}">
        <p14:creationId xmlns:p14="http://schemas.microsoft.com/office/powerpoint/2010/main" val="915464988"/>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3E131C9-6970-4C9B-9FB9-874C650BBB76}"/>
              </a:ext>
            </a:extLst>
          </p:cNvPr>
          <p:cNvSpPr>
            <a:spLocks xmlns:a="http://schemas.openxmlformats.org/drawingml/2006/main" noGrp="1"/>
          </p:cNvSpPr>
          <p:nvPr/>
        </p:nvSpPr>
        <p:spPr>
          <a:xfrm xmlns:a="http://schemas.openxmlformats.org/drawingml/2006/main">
            <a:off x="685800" y="4572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0243E"/>
                </a:solidFill>
                <a:latin typeface="Segoe UI"/>
                <a:ea typeface="Segoe UI"/>
                <a:cs typeface="Segoe UI"/>
              </a:defRPr>
            </a:pPr>
            <a:r>
              <a:rPr sz="2550" b="1">
                <a:solidFill>
                  <a:srgbClr val="10243E"/>
                </a:solidFill>
                <a:latin typeface="Segoe UI"/>
                <a:ea typeface="Segoe UI"/>
                <a:cs typeface="Segoe UI"/>
              </a:rPr>
              <a:t>Legacy experience and Phoenix</a:t>
            </a:r>
          </a:p>
        </p:txBody>
      </p:sp>
      <p:sp>
        <p:nvSpPr>
          <p:cNvPr id="2" name="">
            <a:extLst xmlns:a="http://schemas.openxmlformats.org/drawingml/2006/main">
              <a:ext uri="{FF2B5EF4-FFF2-40B4-BE49-F238E27FC236}">
                <a16:creationId xmlns:a16="http://schemas.microsoft.com/office/drawing/2014/main" id="{44C31F7B-683D-4738-B49B-0A6BE1D8A904}"/>
              </a:ext>
            </a:extLst>
          </p:cNvPr>
          <p:cNvSpPr>
            <a:spLocks xmlns:a="http://schemas.openxmlformats.org/drawingml/2006/main" noGrp="1"/>
          </p:cNvSpPr>
          <p:nvPr/>
        </p:nvSpPr>
        <p:spPr>
          <a:xfrm xmlns:a="http://schemas.openxmlformats.org/drawingml/2006/main">
            <a:off x="685800" y="1028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78D"/>
                </a:solidFill>
                <a:latin typeface="Segoe UI"/>
                <a:ea typeface="Segoe UI"/>
                <a:cs typeface="Segoe UI"/>
              </a:defRPr>
            </a:pPr>
            <a:r>
              <a:rPr sz="1200" b="0">
                <a:solidFill>
                  <a:srgbClr val="66778D"/>
                </a:solidFill>
                <a:latin typeface="Segoe UI"/>
                <a:ea typeface="Segoe UI"/>
                <a:cs typeface="Segoe UI"/>
              </a:rPr>
              <a:t>The new application replaces a static bot flow with a dedicated monitoring experience</a:t>
            </a:r>
          </a:p>
        </p:txBody>
      </p:sp>
      <p:sp>
        <p:nvSpPr>
          <p:cNvPr id="3" name="">
            <a:extLst xmlns:a="http://schemas.openxmlformats.org/drawingml/2006/main">
              <a:ext uri="{FF2B5EF4-FFF2-40B4-BE49-F238E27FC236}">
                <a16:creationId xmlns:a16="http://schemas.microsoft.com/office/drawing/2014/main" id="{5B8633EB-2781-44CA-9994-278F561702B3}"/>
              </a:ext>
            </a:extLst>
          </p:cNvPr>
          <p:cNvSpPr>
            <a:spLocks xmlns:a="http://schemas.openxmlformats.org/drawingml/2006/main" noGrp="1"/>
          </p:cNvSpPr>
          <p:nvPr/>
        </p:nvSpPr>
        <p:spPr>
          <a:xfrm xmlns:a="http://schemas.openxmlformats.org/drawingml/2006/main">
            <a:off x="685800" y="1638300"/>
            <a:ext cx="4095750" cy="666750"/>
          </a:xfrm>
          <a:prstGeom xmlns:a="http://schemas.openxmlformats.org/drawingml/2006/main" prst="roundRect">
            <a:avLst>
              <a:gd name="adj" fmla="val 22857"/>
            </a:avLst>
          </a:prstGeom>
          <a:solidFill xmlns:a="http://schemas.openxmlformats.org/drawingml/2006/main">
            <a:srgbClr val="E4E9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C1613D-F4F6-4440-B37C-FBFC2AADC741}"/>
              </a:ext>
            </a:extLst>
          </p:cNvPr>
          <p:cNvSpPr>
            <a:spLocks xmlns:a="http://schemas.openxmlformats.org/drawingml/2006/main" noGrp="1"/>
          </p:cNvSpPr>
          <p:nvPr/>
        </p:nvSpPr>
        <p:spPr>
          <a:xfrm xmlns:a="http://schemas.openxmlformats.org/drawingml/2006/main">
            <a:off x="971550" y="16383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10243E"/>
                </a:solidFill>
                <a:latin typeface="Segoe UI"/>
                <a:ea typeface="Segoe UI"/>
                <a:cs typeface="Segoe UI"/>
              </a:defRPr>
            </a:pPr>
            <a:r>
              <a:rPr sz="1425" b="1">
                <a:solidFill>
                  <a:srgbClr val="10243E"/>
                </a:solidFill>
                <a:latin typeface="Segoe UI"/>
                <a:ea typeface="Segoe UI"/>
                <a:cs typeface="Segoe UI"/>
              </a:rPr>
              <a:t>GENIE WEBEX BOT</a:t>
            </a:r>
          </a:p>
        </p:txBody>
      </p:sp>
      <p:sp>
        <p:nvSpPr>
          <p:cNvPr id="5" name="">
            <a:extLst xmlns:a="http://schemas.openxmlformats.org/drawingml/2006/main">
              <a:ext uri="{FF2B5EF4-FFF2-40B4-BE49-F238E27FC236}">
                <a16:creationId xmlns:a16="http://schemas.microsoft.com/office/drawing/2014/main" id="{F73BDF9B-7635-4360-868C-0720F7CAC1F7}"/>
              </a:ext>
            </a:extLst>
          </p:cNvPr>
          <p:cNvSpPr>
            <a:spLocks xmlns:a="http://schemas.openxmlformats.org/drawingml/2006/main" noGrp="1"/>
          </p:cNvSpPr>
          <p:nvPr/>
        </p:nvSpPr>
        <p:spPr>
          <a:xfrm xmlns:a="http://schemas.openxmlformats.org/drawingml/2006/main">
            <a:off x="7410450" y="1638300"/>
            <a:ext cx="4095750" cy="666750"/>
          </a:xfrm>
          <a:prstGeom xmlns:a="http://schemas.openxmlformats.org/drawingml/2006/main" prst="roundRect">
            <a:avLst>
              <a:gd name="adj" fmla="val 22857"/>
            </a:avLst>
          </a:prstGeom>
          <a:solidFill xmlns:a="http://schemas.openxmlformats.org/drawingml/2006/main">
            <a:srgbClr val="1467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271B96-460A-447D-8FE1-F29B0F3115C0}"/>
              </a:ext>
            </a:extLst>
          </p:cNvPr>
          <p:cNvSpPr>
            <a:spLocks xmlns:a="http://schemas.openxmlformats.org/drawingml/2006/main" noGrp="1"/>
          </p:cNvSpPr>
          <p:nvPr/>
        </p:nvSpPr>
        <p:spPr>
          <a:xfrm xmlns:a="http://schemas.openxmlformats.org/drawingml/2006/main">
            <a:off x="7696200" y="16383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Segoe UI"/>
                <a:ea typeface="Segoe UI"/>
                <a:cs typeface="Segoe UI"/>
              </a:defRPr>
            </a:pPr>
            <a:r>
              <a:rPr sz="1425" b="1">
                <a:solidFill>
                  <a:srgbClr val="FFFFFF"/>
                </a:solidFill>
                <a:latin typeface="Segoe UI"/>
                <a:ea typeface="Segoe UI"/>
                <a:cs typeface="Segoe UI"/>
              </a:rPr>
              <a:t>PHOENIX</a:t>
            </a:r>
          </a:p>
        </p:txBody>
      </p:sp>
      <p:sp>
        <p:nvSpPr>
          <p:cNvPr id="7" name="">
            <a:extLst xmlns:a="http://schemas.openxmlformats.org/drawingml/2006/main">
              <a:ext uri="{FF2B5EF4-FFF2-40B4-BE49-F238E27FC236}">
                <a16:creationId xmlns:a16="http://schemas.microsoft.com/office/drawing/2014/main" id="{54FF398C-7478-4C56-8C7C-8F4B6D376676}"/>
              </a:ext>
            </a:extLst>
          </p:cNvPr>
          <p:cNvSpPr>
            <a:spLocks xmlns:a="http://schemas.openxmlformats.org/drawingml/2006/main" noGrp="1"/>
          </p:cNvSpPr>
          <p:nvPr/>
        </p:nvSpPr>
        <p:spPr>
          <a:xfrm xmlns:a="http://schemas.openxmlformats.org/drawingml/2006/main">
            <a:off x="685800" y="24955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F12917-94EA-4FD4-998A-C5CC82507A74}"/>
              </a:ext>
            </a:extLst>
          </p:cNvPr>
          <p:cNvSpPr>
            <a:spLocks xmlns:a="http://schemas.openxmlformats.org/drawingml/2006/main" noGrp="1"/>
          </p:cNvSpPr>
          <p:nvPr/>
        </p:nvSpPr>
        <p:spPr>
          <a:xfrm xmlns:a="http://schemas.openxmlformats.org/drawingml/2006/main">
            <a:off x="952500" y="2495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Webex chat bot</a:t>
            </a:r>
          </a:p>
        </p:txBody>
      </p:sp>
      <p:sp>
        <p:nvSpPr>
          <p:cNvPr id="9" name="">
            <a:extLst xmlns:a="http://schemas.openxmlformats.org/drawingml/2006/main">
              <a:ext uri="{FF2B5EF4-FFF2-40B4-BE49-F238E27FC236}">
                <a16:creationId xmlns:a16="http://schemas.microsoft.com/office/drawing/2014/main" id="{6A93FE49-EB50-443B-AFB6-5561DDA65276}"/>
              </a:ext>
            </a:extLst>
          </p:cNvPr>
          <p:cNvSpPr>
            <a:spLocks xmlns:a="http://schemas.openxmlformats.org/drawingml/2006/main" noGrp="1"/>
          </p:cNvSpPr>
          <p:nvPr/>
        </p:nvSpPr>
        <p:spPr>
          <a:xfrm xmlns:a="http://schemas.openxmlformats.org/drawingml/2006/main">
            <a:off x="4972050" y="24955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ACCESS</a:t>
            </a:r>
          </a:p>
        </p:txBody>
      </p:sp>
      <p:sp>
        <p:nvSpPr>
          <p:cNvPr id="10" name="">
            <a:extLst xmlns:a="http://schemas.openxmlformats.org/drawingml/2006/main">
              <a:ext uri="{FF2B5EF4-FFF2-40B4-BE49-F238E27FC236}">
                <a16:creationId xmlns:a16="http://schemas.microsoft.com/office/drawing/2014/main" id="{D78CEBEC-3E4B-415D-B0C3-325C56E0FD1A}"/>
              </a:ext>
            </a:extLst>
          </p:cNvPr>
          <p:cNvSpPr>
            <a:spLocks xmlns:a="http://schemas.openxmlformats.org/drawingml/2006/main" noGrp="1"/>
          </p:cNvSpPr>
          <p:nvPr/>
        </p:nvSpPr>
        <p:spPr>
          <a:xfrm xmlns:a="http://schemas.openxmlformats.org/drawingml/2006/main">
            <a:off x="7715250" y="2495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Standalone application</a:t>
            </a:r>
          </a:p>
        </p:txBody>
      </p:sp>
      <p:sp>
        <p:nvSpPr>
          <p:cNvPr id="11" name="">
            <a:extLst xmlns:a="http://schemas.openxmlformats.org/drawingml/2006/main">
              <a:ext uri="{FF2B5EF4-FFF2-40B4-BE49-F238E27FC236}">
                <a16:creationId xmlns:a16="http://schemas.microsoft.com/office/drawing/2014/main" id="{E0848F05-0FC3-487F-BEAF-5F9743CA475B}"/>
              </a:ext>
            </a:extLst>
          </p:cNvPr>
          <p:cNvSpPr>
            <a:spLocks xmlns:a="http://schemas.openxmlformats.org/drawingml/2006/main" noGrp="1"/>
          </p:cNvSpPr>
          <p:nvPr/>
        </p:nvSpPr>
        <p:spPr>
          <a:xfrm xmlns:a="http://schemas.openxmlformats.org/drawingml/2006/main">
            <a:off x="952500" y="3067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Static HTML page</a:t>
            </a:r>
          </a:p>
        </p:txBody>
      </p:sp>
      <p:sp>
        <p:nvSpPr>
          <p:cNvPr id="12" name="">
            <a:extLst xmlns:a="http://schemas.openxmlformats.org/drawingml/2006/main">
              <a:ext uri="{FF2B5EF4-FFF2-40B4-BE49-F238E27FC236}">
                <a16:creationId xmlns:a16="http://schemas.microsoft.com/office/drawing/2014/main" id="{FBF805AA-8F6C-45E6-81C2-7D311B7E8A97}"/>
              </a:ext>
            </a:extLst>
          </p:cNvPr>
          <p:cNvSpPr>
            <a:spLocks xmlns:a="http://schemas.openxmlformats.org/drawingml/2006/main" noGrp="1"/>
          </p:cNvSpPr>
          <p:nvPr/>
        </p:nvSpPr>
        <p:spPr>
          <a:xfrm xmlns:a="http://schemas.openxmlformats.org/drawingml/2006/main">
            <a:off x="4972050" y="30670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OUTPUT</a:t>
            </a:r>
          </a:p>
        </p:txBody>
      </p:sp>
      <p:sp>
        <p:nvSpPr>
          <p:cNvPr id="13" name="">
            <a:extLst xmlns:a="http://schemas.openxmlformats.org/drawingml/2006/main">
              <a:ext uri="{FF2B5EF4-FFF2-40B4-BE49-F238E27FC236}">
                <a16:creationId xmlns:a16="http://schemas.microsoft.com/office/drawing/2014/main" id="{79FE7A44-9B9E-43F2-B993-E9975C7508E4}"/>
              </a:ext>
            </a:extLst>
          </p:cNvPr>
          <p:cNvSpPr>
            <a:spLocks xmlns:a="http://schemas.openxmlformats.org/drawingml/2006/main" noGrp="1"/>
          </p:cNvSpPr>
          <p:nvPr/>
        </p:nvSpPr>
        <p:spPr>
          <a:xfrm xmlns:a="http://schemas.openxmlformats.org/drawingml/2006/main">
            <a:off x="7715250" y="3067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Interactive React interface</a:t>
            </a:r>
          </a:p>
        </p:txBody>
      </p:sp>
      <p:sp>
        <p:nvSpPr>
          <p:cNvPr id="14" name="">
            <a:extLst xmlns:a="http://schemas.openxmlformats.org/drawingml/2006/main">
              <a:ext uri="{FF2B5EF4-FFF2-40B4-BE49-F238E27FC236}">
                <a16:creationId xmlns:a16="http://schemas.microsoft.com/office/drawing/2014/main" id="{6CABFCBE-01BF-40C7-BEEB-92AD2E99CBC1}"/>
              </a:ext>
            </a:extLst>
          </p:cNvPr>
          <p:cNvSpPr>
            <a:spLocks xmlns:a="http://schemas.openxmlformats.org/drawingml/2006/main" noGrp="1"/>
          </p:cNvSpPr>
          <p:nvPr/>
        </p:nvSpPr>
        <p:spPr>
          <a:xfrm xmlns:a="http://schemas.openxmlformats.org/drawingml/2006/main">
            <a:off x="685800" y="36385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1562213-3744-44ED-92AE-174EFBDD38D0}"/>
              </a:ext>
            </a:extLst>
          </p:cNvPr>
          <p:cNvSpPr>
            <a:spLocks xmlns:a="http://schemas.openxmlformats.org/drawingml/2006/main" noGrp="1"/>
          </p:cNvSpPr>
          <p:nvPr/>
        </p:nvSpPr>
        <p:spPr>
          <a:xfrm xmlns:a="http://schemas.openxmlformats.org/drawingml/2006/main">
            <a:off x="952500" y="3638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Limited search</a:t>
            </a:r>
          </a:p>
        </p:txBody>
      </p:sp>
      <p:sp>
        <p:nvSpPr>
          <p:cNvPr id="16" name="">
            <a:extLst xmlns:a="http://schemas.openxmlformats.org/drawingml/2006/main">
              <a:ext uri="{FF2B5EF4-FFF2-40B4-BE49-F238E27FC236}">
                <a16:creationId xmlns:a16="http://schemas.microsoft.com/office/drawing/2014/main" id="{099B765D-A567-4430-A870-4B972064A8A0}"/>
              </a:ext>
            </a:extLst>
          </p:cNvPr>
          <p:cNvSpPr>
            <a:spLocks xmlns:a="http://schemas.openxmlformats.org/drawingml/2006/main" noGrp="1"/>
          </p:cNvSpPr>
          <p:nvPr/>
        </p:nvSpPr>
        <p:spPr>
          <a:xfrm xmlns:a="http://schemas.openxmlformats.org/drawingml/2006/main">
            <a:off x="4972050" y="36385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NAVIGATION</a:t>
            </a:r>
          </a:p>
        </p:txBody>
      </p:sp>
      <p:sp>
        <p:nvSpPr>
          <p:cNvPr id="17" name="">
            <a:extLst xmlns:a="http://schemas.openxmlformats.org/drawingml/2006/main">
              <a:ext uri="{FF2B5EF4-FFF2-40B4-BE49-F238E27FC236}">
                <a16:creationId xmlns:a16="http://schemas.microsoft.com/office/drawing/2014/main" id="{2CBD37CD-46A6-4675-AC78-E3460671759D}"/>
              </a:ext>
            </a:extLst>
          </p:cNvPr>
          <p:cNvSpPr>
            <a:spLocks xmlns:a="http://schemas.openxmlformats.org/drawingml/2006/main" noGrp="1"/>
          </p:cNvSpPr>
          <p:nvPr/>
        </p:nvSpPr>
        <p:spPr>
          <a:xfrm xmlns:a="http://schemas.openxmlformats.org/drawingml/2006/main">
            <a:off x="7715250" y="3638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Search and filtering</a:t>
            </a:r>
          </a:p>
        </p:txBody>
      </p:sp>
      <p:sp>
        <p:nvSpPr>
          <p:cNvPr id="18" name="">
            <a:extLst xmlns:a="http://schemas.openxmlformats.org/drawingml/2006/main">
              <a:ext uri="{FF2B5EF4-FFF2-40B4-BE49-F238E27FC236}">
                <a16:creationId xmlns:a16="http://schemas.microsoft.com/office/drawing/2014/main" id="{DCD8D98A-ABE2-472E-9D72-E3A1518D9671}"/>
              </a:ext>
            </a:extLst>
          </p:cNvPr>
          <p:cNvSpPr>
            <a:spLocks xmlns:a="http://schemas.openxmlformats.org/drawingml/2006/main" noGrp="1"/>
          </p:cNvSpPr>
          <p:nvPr/>
        </p:nvSpPr>
        <p:spPr>
          <a:xfrm xmlns:a="http://schemas.openxmlformats.org/drawingml/2006/main">
            <a:off x="952500" y="4210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No central dashboard</a:t>
            </a:r>
          </a:p>
        </p:txBody>
      </p:sp>
      <p:sp>
        <p:nvSpPr>
          <p:cNvPr id="19" name="">
            <a:extLst xmlns:a="http://schemas.openxmlformats.org/drawingml/2006/main">
              <a:ext uri="{FF2B5EF4-FFF2-40B4-BE49-F238E27FC236}">
                <a16:creationId xmlns:a16="http://schemas.microsoft.com/office/drawing/2014/main" id="{E00B87B5-43BC-4A4D-A0B2-DE57D57DC943}"/>
              </a:ext>
            </a:extLst>
          </p:cNvPr>
          <p:cNvSpPr>
            <a:spLocks xmlns:a="http://schemas.openxmlformats.org/drawingml/2006/main" noGrp="1"/>
          </p:cNvSpPr>
          <p:nvPr/>
        </p:nvSpPr>
        <p:spPr>
          <a:xfrm xmlns:a="http://schemas.openxmlformats.org/drawingml/2006/main">
            <a:off x="4972050" y="42100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VISIBILITY</a:t>
            </a:r>
          </a:p>
        </p:txBody>
      </p:sp>
      <p:sp>
        <p:nvSpPr>
          <p:cNvPr id="20" name="">
            <a:extLst xmlns:a="http://schemas.openxmlformats.org/drawingml/2006/main">
              <a:ext uri="{FF2B5EF4-FFF2-40B4-BE49-F238E27FC236}">
                <a16:creationId xmlns:a16="http://schemas.microsoft.com/office/drawing/2014/main" id="{7C7F6473-5539-49A3-A3A7-F8086D7E61B5}"/>
              </a:ext>
            </a:extLst>
          </p:cNvPr>
          <p:cNvSpPr>
            <a:spLocks xmlns:a="http://schemas.openxmlformats.org/drawingml/2006/main" noGrp="1"/>
          </p:cNvSpPr>
          <p:nvPr/>
        </p:nvSpPr>
        <p:spPr>
          <a:xfrm xmlns:a="http://schemas.openxmlformats.org/drawingml/2006/main">
            <a:off x="7715250" y="4210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Single monitoring view</a:t>
            </a:r>
          </a:p>
        </p:txBody>
      </p:sp>
      <p:sp>
        <p:nvSpPr>
          <p:cNvPr id="21" name="">
            <a:extLst xmlns:a="http://schemas.openxmlformats.org/drawingml/2006/main">
              <a:ext uri="{FF2B5EF4-FFF2-40B4-BE49-F238E27FC236}">
                <a16:creationId xmlns:a16="http://schemas.microsoft.com/office/drawing/2014/main" id="{9327EB40-5F58-4E8C-B534-4FAA4180B931}"/>
              </a:ext>
            </a:extLst>
          </p:cNvPr>
          <p:cNvSpPr>
            <a:spLocks xmlns:a="http://schemas.openxmlformats.org/drawingml/2006/main" noGrp="1"/>
          </p:cNvSpPr>
          <p:nvPr/>
        </p:nvSpPr>
        <p:spPr>
          <a:xfrm xmlns:a="http://schemas.openxmlformats.org/drawingml/2006/main">
            <a:off x="685800" y="47815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B8C9D67-93C9-4CAF-BF25-43813CB441A4}"/>
              </a:ext>
            </a:extLst>
          </p:cNvPr>
          <p:cNvSpPr>
            <a:spLocks xmlns:a="http://schemas.openxmlformats.org/drawingml/2006/main" noGrp="1"/>
          </p:cNvSpPr>
          <p:nvPr/>
        </p:nvSpPr>
        <p:spPr>
          <a:xfrm xmlns:a="http://schemas.openxmlformats.org/drawingml/2006/main">
            <a:off x="952500" y="4781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Dependent on Webex</a:t>
            </a:r>
          </a:p>
        </p:txBody>
      </p:sp>
      <p:sp>
        <p:nvSpPr>
          <p:cNvPr id="23" name="">
            <a:extLst xmlns:a="http://schemas.openxmlformats.org/drawingml/2006/main">
              <a:ext uri="{FF2B5EF4-FFF2-40B4-BE49-F238E27FC236}">
                <a16:creationId xmlns:a16="http://schemas.microsoft.com/office/drawing/2014/main" id="{05BBA8A0-35AB-4731-9CDD-194335F9AEFF}"/>
              </a:ext>
            </a:extLst>
          </p:cNvPr>
          <p:cNvSpPr>
            <a:spLocks xmlns:a="http://schemas.openxmlformats.org/drawingml/2006/main" noGrp="1"/>
          </p:cNvSpPr>
          <p:nvPr/>
        </p:nvSpPr>
        <p:spPr>
          <a:xfrm xmlns:a="http://schemas.openxmlformats.org/drawingml/2006/main">
            <a:off x="4972050" y="47815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PLATFORM</a:t>
            </a:r>
          </a:p>
        </p:txBody>
      </p:sp>
      <p:sp>
        <p:nvSpPr>
          <p:cNvPr id="24" name="">
            <a:extLst xmlns:a="http://schemas.openxmlformats.org/drawingml/2006/main">
              <a:ext uri="{FF2B5EF4-FFF2-40B4-BE49-F238E27FC236}">
                <a16:creationId xmlns:a16="http://schemas.microsoft.com/office/drawing/2014/main" id="{271457E5-F93F-4F1B-9F88-A0F8D5B7514B}"/>
              </a:ext>
            </a:extLst>
          </p:cNvPr>
          <p:cNvSpPr>
            <a:spLocks xmlns:a="http://schemas.openxmlformats.org/drawingml/2006/main" noGrp="1"/>
          </p:cNvSpPr>
          <p:nvPr/>
        </p:nvSpPr>
        <p:spPr>
          <a:xfrm xmlns:a="http://schemas.openxmlformats.org/drawingml/2006/main">
            <a:off x="7715250" y="4781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Independent of Teams</a:t>
            </a:r>
          </a:p>
        </p:txBody>
      </p:sp>
      <p:sp>
        <p:nvSpPr>
          <p:cNvPr id="25" name="">
            <a:extLst xmlns:a="http://schemas.openxmlformats.org/drawingml/2006/main">
              <a:ext uri="{FF2B5EF4-FFF2-40B4-BE49-F238E27FC236}">
                <a16:creationId xmlns:a16="http://schemas.microsoft.com/office/drawing/2014/main" id="{48BF936F-572B-4474-8F0D-0A89ED5BF256}"/>
              </a:ext>
            </a:extLst>
          </p:cNvPr>
          <p:cNvSpPr>
            <a:spLocks xmlns:a="http://schemas.openxmlformats.org/drawingml/2006/main" noGrp="1"/>
          </p:cNvSpPr>
          <p:nvPr/>
        </p:nvSpPr>
        <p:spPr>
          <a:xfrm xmlns:a="http://schemas.openxmlformats.org/drawingml/2006/main">
            <a:off x="952500" y="5353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7A8796"/>
                </a:solidFill>
                <a:latin typeface="Segoe UI"/>
                <a:ea typeface="Segoe UI"/>
                <a:cs typeface="Segoe UI"/>
              </a:defRPr>
            </a:pPr>
            <a:r>
              <a:rPr sz="1200" b="0">
                <a:solidFill>
                  <a:srgbClr val="7A8796"/>
                </a:solidFill>
                <a:latin typeface="Segoe UI"/>
                <a:ea typeface="Segoe UI"/>
                <a:cs typeface="Segoe UI"/>
              </a:rPr>
              <a:t>Harder to extend</a:t>
            </a:r>
          </a:p>
        </p:txBody>
      </p:sp>
      <p:sp>
        <p:nvSpPr>
          <p:cNvPr id="26" name="">
            <a:extLst xmlns:a="http://schemas.openxmlformats.org/drawingml/2006/main">
              <a:ext uri="{FF2B5EF4-FFF2-40B4-BE49-F238E27FC236}">
                <a16:creationId xmlns:a16="http://schemas.microsoft.com/office/drawing/2014/main" id="{980BAAD2-D873-4B44-8A55-7DE7E175CE5E}"/>
              </a:ext>
            </a:extLst>
          </p:cNvPr>
          <p:cNvSpPr>
            <a:spLocks xmlns:a="http://schemas.openxmlformats.org/drawingml/2006/main" noGrp="1"/>
          </p:cNvSpPr>
          <p:nvPr/>
        </p:nvSpPr>
        <p:spPr>
          <a:xfrm xmlns:a="http://schemas.openxmlformats.org/drawingml/2006/main">
            <a:off x="4972050" y="5353050"/>
            <a:ext cx="2247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10243E"/>
                </a:solidFill>
                <a:latin typeface="Segoe UI"/>
                <a:ea typeface="Segoe UI"/>
                <a:cs typeface="Segoe UI"/>
              </a:defRPr>
            </a:pPr>
            <a:r>
              <a:rPr sz="900" b="1">
                <a:solidFill>
                  <a:srgbClr val="10243E"/>
                </a:solidFill>
                <a:latin typeface="Segoe UI"/>
                <a:ea typeface="Segoe UI"/>
                <a:cs typeface="Segoe UI"/>
              </a:rPr>
              <a:t>EVOLUTION</a:t>
            </a:r>
          </a:p>
        </p:txBody>
      </p:sp>
      <p:sp>
        <p:nvSpPr>
          <p:cNvPr id="27" name="">
            <a:extLst xmlns:a="http://schemas.openxmlformats.org/drawingml/2006/main">
              <a:ext uri="{FF2B5EF4-FFF2-40B4-BE49-F238E27FC236}">
                <a16:creationId xmlns:a16="http://schemas.microsoft.com/office/drawing/2014/main" id="{83D957C2-F58F-4FEB-B085-018FBFA77995}"/>
              </a:ext>
            </a:extLst>
          </p:cNvPr>
          <p:cNvSpPr>
            <a:spLocks xmlns:a="http://schemas.openxmlformats.org/drawingml/2006/main" noGrp="1"/>
          </p:cNvSpPr>
          <p:nvPr/>
        </p:nvSpPr>
        <p:spPr>
          <a:xfrm xmlns:a="http://schemas.openxmlformats.org/drawingml/2006/main">
            <a:off x="7715250" y="53530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1467D2"/>
                </a:solidFill>
                <a:latin typeface="Segoe UI"/>
                <a:ea typeface="Segoe UI"/>
                <a:cs typeface="Segoe UI"/>
              </a:defRPr>
            </a:pPr>
            <a:r>
              <a:rPr sz="1200" b="1">
                <a:solidFill>
                  <a:srgbClr val="1467D2"/>
                </a:solidFill>
                <a:latin typeface="Segoe UI"/>
                <a:ea typeface="Segoe UI"/>
                <a:cs typeface="Segoe UI"/>
              </a:rPr>
              <a:t>Ready for future enhancements</a:t>
            </a:r>
          </a:p>
        </p:txBody>
      </p:sp>
      <p:sp>
        <p:nvSpPr>
          <p:cNvPr id="28" name="">
            <a:extLst xmlns:a="http://schemas.openxmlformats.org/drawingml/2006/main">
              <a:ext uri="{FF2B5EF4-FFF2-40B4-BE49-F238E27FC236}">
                <a16:creationId xmlns:a16="http://schemas.microsoft.com/office/drawing/2014/main" id="{0C9C76DE-0238-4E12-A037-F30190D18057}"/>
              </a:ext>
            </a:extLst>
          </p:cNvPr>
          <p:cNvSpPr>
            <a:spLocks xmlns:a="http://schemas.openxmlformats.org/drawingml/2006/main" noGrp="1"/>
          </p:cNvSpPr>
          <p:nvPr/>
        </p:nvSpPr>
        <p:spPr>
          <a:xfrm xmlns:a="http://schemas.openxmlformats.org/drawingml/2006/main">
            <a:off x="5829300" y="1638300"/>
            <a:ext cx="533400" cy="666750"/>
          </a:xfrm>
          <a:prstGeom xmlns:a="http://schemas.openxmlformats.org/drawingml/2006/main" prst="roundRect">
            <a:avLst>
              <a:gd name="adj" fmla="val 28571"/>
            </a:avLst>
          </a:prstGeom>
          <a:solidFill xmlns:a="http://schemas.openxmlformats.org/drawingml/2006/main">
            <a:srgbClr val="071B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E6DE95B-CE91-42C8-9AD9-C3660F00B622}"/>
              </a:ext>
            </a:extLst>
          </p:cNvPr>
          <p:cNvSpPr>
            <a:spLocks xmlns:a="http://schemas.openxmlformats.org/drawingml/2006/main" noGrp="1"/>
          </p:cNvSpPr>
          <p:nvPr/>
        </p:nvSpPr>
        <p:spPr>
          <a:xfrm xmlns:a="http://schemas.openxmlformats.org/drawingml/2006/main">
            <a:off x="5829300" y="1638300"/>
            <a:ext cx="533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25B7F4"/>
                </a:solidFill>
                <a:latin typeface="Segoe UI"/>
                <a:ea typeface="Segoe UI"/>
                <a:cs typeface="Segoe UI"/>
              </a:defRPr>
            </a:pPr>
            <a:r>
              <a:rPr sz="1950" b="1">
                <a:solidFill>
                  <a:srgbClr val="25B7F4"/>
                </a:solidFill>
                <a:latin typeface="Segoe UI"/>
                <a:ea typeface="Segoe UI"/>
                <a:cs typeface="Segoe UI"/>
              </a:rPr>
              <a:t>&gt;</a:t>
            </a:r>
          </a:p>
        </p:txBody>
      </p:sp>
      <p:sp>
        <p:nvSpPr>
          <p:cNvPr id="30" name="">
            <a:extLst xmlns:a="http://schemas.openxmlformats.org/drawingml/2006/main">
              <a:ext uri="{FF2B5EF4-FFF2-40B4-BE49-F238E27FC236}">
                <a16:creationId xmlns:a16="http://schemas.microsoft.com/office/drawing/2014/main" id="{C56CBF3F-4509-4D29-B8C1-5EAFE5BD5BC6}"/>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A9BB0"/>
                </a:solidFill>
                <a:latin typeface="Segoe UI"/>
                <a:ea typeface="Segoe UI"/>
                <a:cs typeface="Segoe UI"/>
              </a:defRPr>
            </a:pPr>
            <a:r>
              <a:rPr sz="825" b="1">
                <a:solidFill>
                  <a:srgbClr val="8A9BB0"/>
                </a:solidFill>
                <a:latin typeface="Segoe UI"/>
                <a:ea typeface="Segoe UI"/>
                <a:cs typeface="Segoe UI"/>
              </a:rPr>
              <a:t>04</a:t>
            </a:r>
          </a:p>
        </p:txBody>
      </p:sp>
    </p:spTree>
    <p:extLst>
      <p:ext uri="{BB962C8B-B14F-4D97-AF65-F5344CB8AC3E}">
        <p14:creationId xmlns:p14="http://schemas.microsoft.com/office/powerpoint/2010/main" val="1595760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5217098-0E9F-433A-8212-6C6B37C4FD11}"/>
              </a:ext>
            </a:extLst>
          </p:cNvPr>
          <p:cNvSpPr>
            <a:spLocks xmlns:a="http://schemas.openxmlformats.org/drawingml/2006/main" noGrp="1"/>
          </p:cNvSpPr>
          <p:nvPr/>
        </p:nvSpPr>
        <p:spPr>
          <a:xfrm xmlns:a="http://schemas.openxmlformats.org/drawingml/2006/main">
            <a:off x="685800" y="4572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0243E"/>
                </a:solidFill>
                <a:latin typeface="Segoe UI"/>
                <a:ea typeface="Segoe UI"/>
                <a:cs typeface="Segoe UI"/>
              </a:defRPr>
            </a:pPr>
            <a:r>
              <a:rPr sz="2550" b="1">
                <a:solidFill>
                  <a:srgbClr val="10243E"/>
                </a:solidFill>
                <a:latin typeface="Segoe UI"/>
                <a:ea typeface="Segoe UI"/>
                <a:cs typeface="Segoe UI"/>
              </a:rPr>
              <a:t>How to launch Phoenix</a:t>
            </a:r>
          </a:p>
        </p:txBody>
      </p:sp>
      <p:sp>
        <p:nvSpPr>
          <p:cNvPr id="2" name="">
            <a:extLst xmlns:a="http://schemas.openxmlformats.org/drawingml/2006/main">
              <a:ext uri="{FF2B5EF4-FFF2-40B4-BE49-F238E27FC236}">
                <a16:creationId xmlns:a16="http://schemas.microsoft.com/office/drawing/2014/main" id="{0A6CE9CE-B0D6-4C94-BD3C-5712441485E0}"/>
              </a:ext>
            </a:extLst>
          </p:cNvPr>
          <p:cNvSpPr>
            <a:spLocks xmlns:a="http://schemas.openxmlformats.org/drawingml/2006/main" noGrp="1"/>
          </p:cNvSpPr>
          <p:nvPr/>
        </p:nvSpPr>
        <p:spPr>
          <a:xfrm xmlns:a="http://schemas.openxmlformats.org/drawingml/2006/main">
            <a:off x="685800" y="10287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78D"/>
                </a:solidFill>
                <a:latin typeface="Segoe UI"/>
                <a:ea typeface="Segoe UI"/>
                <a:cs typeface="Segoe UI"/>
              </a:defRPr>
            </a:pPr>
            <a:r>
              <a:rPr sz="1200" b="0">
                <a:solidFill>
                  <a:srgbClr val="66778D"/>
                </a:solidFill>
                <a:latin typeface="Segoe UI"/>
                <a:ea typeface="Segoe UI"/>
                <a:cs typeface="Segoe UI"/>
              </a:rPr>
              <a:t>Users enter the application through the Phoenix Launch Pad</a:t>
            </a:r>
          </a:p>
        </p:txBody>
      </p:sp>
      <p:sp>
        <p:nvSpPr>
          <p:cNvPr id="3" name="">
            <a:extLst xmlns:a="http://schemas.openxmlformats.org/drawingml/2006/main">
              <a:ext uri="{FF2B5EF4-FFF2-40B4-BE49-F238E27FC236}">
                <a16:creationId xmlns:a16="http://schemas.microsoft.com/office/drawing/2014/main" id="{6A261B8C-B196-4BEA-A459-D0404DAEC6B0}"/>
              </a:ext>
            </a:extLst>
          </p:cNvPr>
          <p:cNvSpPr>
            <a:spLocks xmlns:a="http://schemas.openxmlformats.org/drawingml/2006/main" noGrp="1"/>
          </p:cNvSpPr>
          <p:nvPr/>
        </p:nvSpPr>
        <p:spPr>
          <a:xfrm xmlns:a="http://schemas.openxmlformats.org/drawingml/2006/main">
            <a:off x="723900" y="1828800"/>
            <a:ext cx="552450" cy="552450"/>
          </a:xfrm>
          <a:prstGeom xmlns:a="http://schemas.openxmlformats.org/drawingml/2006/main" prst="roundRect">
            <a:avLst>
              <a:gd name="adj" fmla="val 50000"/>
            </a:avLst>
          </a:prstGeom>
          <a:solidFill xmlns:a="http://schemas.openxmlformats.org/drawingml/2006/main">
            <a:srgbClr val="1467D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F08620-F40B-42F4-B5C3-8FE74987E333}"/>
              </a:ext>
            </a:extLst>
          </p:cNvPr>
          <p:cNvSpPr>
            <a:spLocks xmlns:a="http://schemas.openxmlformats.org/drawingml/2006/main" noGrp="1"/>
          </p:cNvSpPr>
          <p:nvPr/>
        </p:nvSpPr>
        <p:spPr>
          <a:xfrm xmlns:a="http://schemas.openxmlformats.org/drawingml/2006/main">
            <a:off x="723900" y="18288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6F9DDD91-3C9F-4D8D-913A-D8439B28ABBD}"/>
              </a:ext>
            </a:extLst>
          </p:cNvPr>
          <p:cNvSpPr>
            <a:spLocks xmlns:a="http://schemas.openxmlformats.org/drawingml/2006/main" noGrp="1"/>
          </p:cNvSpPr>
          <p:nvPr/>
        </p:nvSpPr>
        <p:spPr>
          <a:xfrm xmlns:a="http://schemas.openxmlformats.org/drawingml/2006/main">
            <a:off x="1543050" y="189547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0243E"/>
                </a:solidFill>
                <a:latin typeface="Segoe UI"/>
                <a:ea typeface="Segoe UI"/>
                <a:cs typeface="Segoe UI"/>
              </a:defRPr>
            </a:pPr>
            <a:r>
              <a:rPr sz="1500" b="1">
                <a:solidFill>
                  <a:srgbClr val="10243E"/>
                </a:solidFill>
                <a:latin typeface="Segoe UI"/>
                <a:ea typeface="Segoe UI"/>
                <a:cs typeface="Segoe UI"/>
              </a:rPr>
              <a:t>Open Phoenix Launch Pad</a:t>
            </a:r>
          </a:p>
        </p:txBody>
      </p:sp>
      <p:sp>
        <p:nvSpPr>
          <p:cNvPr id="6" name="">
            <a:extLst xmlns:a="http://schemas.openxmlformats.org/drawingml/2006/main">
              <a:ext uri="{FF2B5EF4-FFF2-40B4-BE49-F238E27FC236}">
                <a16:creationId xmlns:a16="http://schemas.microsoft.com/office/drawing/2014/main" id="{3920EE93-D4F1-4B5B-BA49-A5D737D57CCF}"/>
              </a:ext>
            </a:extLst>
          </p:cNvPr>
          <p:cNvSpPr>
            <a:spLocks xmlns:a="http://schemas.openxmlformats.org/drawingml/2006/main" noGrp="1"/>
          </p:cNvSpPr>
          <p:nvPr/>
        </p:nvSpPr>
        <p:spPr>
          <a:xfrm xmlns:a="http://schemas.openxmlformats.org/drawingml/2006/main">
            <a:off x="990600" y="2476500"/>
            <a:ext cx="19050" cy="381000"/>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81E292-A01B-4229-813A-532AFF54117B}"/>
              </a:ext>
            </a:extLst>
          </p:cNvPr>
          <p:cNvSpPr>
            <a:spLocks xmlns:a="http://schemas.openxmlformats.org/drawingml/2006/main" noGrp="1"/>
          </p:cNvSpPr>
          <p:nvPr/>
        </p:nvSpPr>
        <p:spPr>
          <a:xfrm xmlns:a="http://schemas.openxmlformats.org/drawingml/2006/main">
            <a:off x="723900" y="2990850"/>
            <a:ext cx="552450" cy="552450"/>
          </a:xfrm>
          <a:prstGeom xmlns:a="http://schemas.openxmlformats.org/drawingml/2006/main" prst="roundRect">
            <a:avLst>
              <a:gd name="adj" fmla="val 50000"/>
            </a:avLst>
          </a:prstGeom>
          <a:solidFill xmlns:a="http://schemas.openxmlformats.org/drawingml/2006/main">
            <a:srgbClr val="1467D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651D50-9EC0-4A53-A45D-482C89F4E104}"/>
              </a:ext>
            </a:extLst>
          </p:cNvPr>
          <p:cNvSpPr>
            <a:spLocks xmlns:a="http://schemas.openxmlformats.org/drawingml/2006/main" noGrp="1"/>
          </p:cNvSpPr>
          <p:nvPr/>
        </p:nvSpPr>
        <p:spPr>
          <a:xfrm xmlns:a="http://schemas.openxmlformats.org/drawingml/2006/main">
            <a:off x="723900" y="29908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7695541D-4046-4D59-AB5C-2BC8574ED078}"/>
              </a:ext>
            </a:extLst>
          </p:cNvPr>
          <p:cNvSpPr>
            <a:spLocks xmlns:a="http://schemas.openxmlformats.org/drawingml/2006/main" noGrp="1"/>
          </p:cNvSpPr>
          <p:nvPr/>
        </p:nvSpPr>
        <p:spPr>
          <a:xfrm xmlns:a="http://schemas.openxmlformats.org/drawingml/2006/main">
            <a:off x="1543050" y="30575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0243E"/>
                </a:solidFill>
                <a:latin typeface="Segoe UI"/>
                <a:ea typeface="Segoe UI"/>
                <a:cs typeface="Segoe UI"/>
              </a:defRPr>
            </a:pPr>
            <a:r>
              <a:rPr sz="1500" b="1">
                <a:solidFill>
                  <a:srgbClr val="10243E"/>
                </a:solidFill>
                <a:latin typeface="Segoe UI"/>
                <a:ea typeface="Segoe UI"/>
                <a:cs typeface="Segoe UI"/>
              </a:rPr>
              <a:t>Select Phoenix Batch Monitoring System</a:t>
            </a:r>
          </a:p>
        </p:txBody>
      </p:sp>
      <p:sp>
        <p:nvSpPr>
          <p:cNvPr id="10" name="">
            <a:extLst xmlns:a="http://schemas.openxmlformats.org/drawingml/2006/main">
              <a:ext uri="{FF2B5EF4-FFF2-40B4-BE49-F238E27FC236}">
                <a16:creationId xmlns:a16="http://schemas.microsoft.com/office/drawing/2014/main" id="{F31EF97D-F791-462A-B5D7-92B812C60137}"/>
              </a:ext>
            </a:extLst>
          </p:cNvPr>
          <p:cNvSpPr>
            <a:spLocks xmlns:a="http://schemas.openxmlformats.org/drawingml/2006/main" noGrp="1"/>
          </p:cNvSpPr>
          <p:nvPr/>
        </p:nvSpPr>
        <p:spPr>
          <a:xfrm xmlns:a="http://schemas.openxmlformats.org/drawingml/2006/main">
            <a:off x="990600" y="3638550"/>
            <a:ext cx="19050" cy="381000"/>
          </a:xfrm>
          <a:prstGeom xmlns:a="http://schemas.openxmlformats.org/drawingml/2006/main" prst="rect">
            <a:avLst/>
          </a:prstGeom>
          <a:solidFill xmlns:a="http://schemas.openxmlformats.org/drawingml/2006/main">
            <a:srgbClr val="D5E0E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B06CFD-1F7F-4F72-8F45-7B074E28E6CD}"/>
              </a:ext>
            </a:extLst>
          </p:cNvPr>
          <p:cNvSpPr>
            <a:spLocks xmlns:a="http://schemas.openxmlformats.org/drawingml/2006/main" noGrp="1"/>
          </p:cNvSpPr>
          <p:nvPr/>
        </p:nvSpPr>
        <p:spPr>
          <a:xfrm xmlns:a="http://schemas.openxmlformats.org/drawingml/2006/main">
            <a:off x="723900" y="4152900"/>
            <a:ext cx="552450" cy="552450"/>
          </a:xfrm>
          <a:prstGeom xmlns:a="http://schemas.openxmlformats.org/drawingml/2006/main" prst="roundRect">
            <a:avLst>
              <a:gd name="adj" fmla="val 50000"/>
            </a:avLst>
          </a:prstGeom>
          <a:solidFill xmlns:a="http://schemas.openxmlformats.org/drawingml/2006/main">
            <a:srgbClr val="25B7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323E66-75DF-4253-8962-5BD8244FC027}"/>
              </a:ext>
            </a:extLst>
          </p:cNvPr>
          <p:cNvSpPr>
            <a:spLocks xmlns:a="http://schemas.openxmlformats.org/drawingml/2006/main" noGrp="1"/>
          </p:cNvSpPr>
          <p:nvPr/>
        </p:nvSpPr>
        <p:spPr>
          <a:xfrm xmlns:a="http://schemas.openxmlformats.org/drawingml/2006/main">
            <a:off x="723900" y="415290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94196CDE-E40F-42DF-BDA1-86919D3670EB}"/>
              </a:ext>
            </a:extLst>
          </p:cNvPr>
          <p:cNvSpPr>
            <a:spLocks xmlns:a="http://schemas.openxmlformats.org/drawingml/2006/main" noGrp="1"/>
          </p:cNvSpPr>
          <p:nvPr/>
        </p:nvSpPr>
        <p:spPr>
          <a:xfrm xmlns:a="http://schemas.openxmlformats.org/drawingml/2006/main">
            <a:off x="1543050" y="421957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10243E"/>
                </a:solidFill>
                <a:latin typeface="Segoe UI"/>
                <a:ea typeface="Segoe UI"/>
                <a:cs typeface="Segoe UI"/>
              </a:defRPr>
            </a:pPr>
            <a:r>
              <a:rPr sz="1500" b="1">
                <a:solidFill>
                  <a:srgbClr val="10243E"/>
                </a:solidFill>
                <a:latin typeface="Segoe UI"/>
                <a:ea typeface="Segoe UI"/>
                <a:cs typeface="Segoe UI"/>
              </a:rPr>
              <a:t>Start monitoring</a:t>
            </a:r>
          </a:p>
        </p:txBody>
      </p:sp>
      <p:sp>
        <p:nvSpPr>
          <p:cNvPr id="14" name="">
            <a:extLst xmlns:a="http://schemas.openxmlformats.org/drawingml/2006/main">
              <a:ext uri="{FF2B5EF4-FFF2-40B4-BE49-F238E27FC236}">
                <a16:creationId xmlns:a16="http://schemas.microsoft.com/office/drawing/2014/main" id="{0252FE79-B12F-410E-A8FA-CD21D5956B7E}"/>
              </a:ext>
            </a:extLst>
          </p:cNvPr>
          <p:cNvSpPr>
            <a:spLocks xmlns:a="http://schemas.openxmlformats.org/drawingml/2006/main" noGrp="1"/>
          </p:cNvSpPr>
          <p:nvPr/>
        </p:nvSpPr>
        <p:spPr>
          <a:xfrm xmlns:a="http://schemas.openxmlformats.org/drawingml/2006/main">
            <a:off x="723900" y="5524500"/>
            <a:ext cx="4762500" cy="495300"/>
          </a:xfrm>
          <a:prstGeom xmlns:a="http://schemas.openxmlformats.org/drawingml/2006/main" prst="roundRect">
            <a:avLst>
              <a:gd name="adj" fmla="val 23077"/>
            </a:avLst>
          </a:prstGeom>
          <a:solidFill xmlns:a="http://schemas.openxmlformats.org/drawingml/2006/main">
            <a:srgbClr val="EAF5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0815D3-C074-497E-8A5B-C5A2E405FCCD}"/>
              </a:ext>
            </a:extLst>
          </p:cNvPr>
          <p:cNvSpPr>
            <a:spLocks xmlns:a="http://schemas.openxmlformats.org/drawingml/2006/main" noGrp="1"/>
          </p:cNvSpPr>
          <p:nvPr/>
        </p:nvSpPr>
        <p:spPr>
          <a:xfrm xmlns:a="http://schemas.openxmlformats.org/drawingml/2006/main">
            <a:off x="933450" y="5524500"/>
            <a:ext cx="434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1">
                <a:solidFill>
                  <a:srgbClr val="1467D2"/>
                </a:solidFill>
                <a:latin typeface="Segoe UI"/>
                <a:ea typeface="Segoe UI"/>
                <a:cs typeface="Segoe UI"/>
              </a:defRPr>
            </a:pPr>
            <a:r>
              <a:rPr sz="1050" b="1">
                <a:solidFill>
                  <a:srgbClr val="1467D2"/>
                </a:solidFill>
                <a:latin typeface="Segoe UI"/>
                <a:ea typeface="Segoe UI"/>
                <a:cs typeface="Segoe UI"/>
              </a:rPr>
              <a:t>Application URL: [Add Phoenix Application URL]</a:t>
            </a:r>
          </a:p>
        </p:txBody>
      </p:sp>
      <p:sp>
        <p:nvSpPr>
          <p:cNvPr id="16" name="">
            <a:extLst xmlns:a="http://schemas.openxmlformats.org/drawingml/2006/main">
              <a:ext uri="{FF2B5EF4-FFF2-40B4-BE49-F238E27FC236}">
                <a16:creationId xmlns:a16="http://schemas.microsoft.com/office/drawing/2014/main" id="{210C16F6-1C24-4670-B530-4643F3B675EB}"/>
              </a:ext>
            </a:extLst>
          </p:cNvPr>
          <p:cNvSpPr>
            <a:spLocks xmlns:a="http://schemas.openxmlformats.org/drawingml/2006/main" noGrp="1"/>
          </p:cNvSpPr>
          <p:nvPr/>
        </p:nvSpPr>
        <p:spPr>
          <a:xfrm xmlns:a="http://schemas.openxmlformats.org/drawingml/2006/main">
            <a:off x="6134100" y="1638300"/>
            <a:ext cx="5372100" cy="4381500"/>
          </a:xfrm>
          <a:prstGeom xmlns:a="http://schemas.openxmlformats.org/drawingml/2006/main" prst="roundRect">
            <a:avLst>
              <a:gd name="adj" fmla="val 5217"/>
            </a:avLst>
          </a:prstGeom>
          <a:solidFill xmlns:a="http://schemas.openxmlformats.org/drawingml/2006/main">
            <a:srgbClr val="F5F8FC"/>
          </a:solidFill>
          <a:ln xmlns:a="http://schemas.openxmlformats.org/drawingml/2006/main" w="9525">
            <a:solidFill>
              <a:srgbClr val="BFD8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C70EFDD-3793-4808-A2AD-D070B5C0E220}"/>
              </a:ext>
            </a:extLst>
          </p:cNvPr>
          <p:cNvSpPr>
            <a:spLocks xmlns:a="http://schemas.openxmlformats.org/drawingml/2006/main" noGrp="1"/>
          </p:cNvSpPr>
          <p:nvPr/>
        </p:nvSpPr>
        <p:spPr>
          <a:xfrm xmlns:a="http://schemas.openxmlformats.org/drawingml/2006/main">
            <a:off x="6343650" y="1847850"/>
            <a:ext cx="4953000" cy="361950"/>
          </a:xfrm>
          <a:prstGeom xmlns:a="http://schemas.openxmlformats.org/drawingml/2006/main" prst="roundRect">
            <a:avLst>
              <a:gd name="adj" fmla="val 23684"/>
            </a:avLst>
          </a:prstGeom>
          <a:solidFill xmlns:a="http://schemas.openxmlformats.org/drawingml/2006/main">
            <a:srgbClr val="071B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98D7528-5693-43F4-B800-C8323DBF9E17}"/>
              </a:ext>
            </a:extLst>
          </p:cNvPr>
          <p:cNvSpPr>
            <a:spLocks xmlns:a="http://schemas.openxmlformats.org/drawingml/2006/main" noGrp="1"/>
          </p:cNvSpPr>
          <p:nvPr/>
        </p:nvSpPr>
        <p:spPr>
          <a:xfrm xmlns:a="http://schemas.openxmlformats.org/drawingml/2006/main">
            <a:off x="6496050" y="1971675"/>
            <a:ext cx="95250" cy="95250"/>
          </a:xfrm>
          <a:prstGeom xmlns:a="http://schemas.openxmlformats.org/drawingml/2006/main" prst="roundRect">
            <a:avLst>
              <a:gd name="adj" fmla="val 50000"/>
            </a:avLst>
          </a:prstGeom>
          <a:solidFill xmlns:a="http://schemas.openxmlformats.org/drawingml/2006/main">
            <a:srgbClr val="FF6B6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582F06F-6368-4739-8726-4A27F63246D0}"/>
              </a:ext>
            </a:extLst>
          </p:cNvPr>
          <p:cNvSpPr>
            <a:spLocks xmlns:a="http://schemas.openxmlformats.org/drawingml/2006/main" noGrp="1"/>
          </p:cNvSpPr>
          <p:nvPr/>
        </p:nvSpPr>
        <p:spPr>
          <a:xfrm xmlns:a="http://schemas.openxmlformats.org/drawingml/2006/main">
            <a:off x="6667500" y="1971675"/>
            <a:ext cx="95250" cy="95250"/>
          </a:xfrm>
          <a:prstGeom xmlns:a="http://schemas.openxmlformats.org/drawingml/2006/main" prst="roundRect">
            <a:avLst>
              <a:gd name="adj" fmla="val 50000"/>
            </a:avLst>
          </a:prstGeom>
          <a:solidFill xmlns:a="http://schemas.openxmlformats.org/drawingml/2006/main">
            <a:srgbClr val="FFD16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65BB8D7-3A0A-4C32-BC92-C2A29BA0A8C0}"/>
              </a:ext>
            </a:extLst>
          </p:cNvPr>
          <p:cNvSpPr>
            <a:spLocks xmlns:a="http://schemas.openxmlformats.org/drawingml/2006/main" noGrp="1"/>
          </p:cNvSpPr>
          <p:nvPr/>
        </p:nvSpPr>
        <p:spPr>
          <a:xfrm xmlns:a="http://schemas.openxmlformats.org/drawingml/2006/main">
            <a:off x="6838950" y="1971675"/>
            <a:ext cx="95250" cy="95250"/>
          </a:xfrm>
          <a:prstGeom xmlns:a="http://schemas.openxmlformats.org/drawingml/2006/main" prst="roundRect">
            <a:avLst>
              <a:gd name="adj" fmla="val 50000"/>
            </a:avLst>
          </a:prstGeom>
          <a:solidFill xmlns:a="http://schemas.openxmlformats.org/drawingml/2006/main">
            <a:srgbClr val="4AD29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D4C7DBA-AB31-48AF-99C2-0F4D5E46E182}"/>
              </a:ext>
            </a:extLst>
          </p:cNvPr>
          <p:cNvSpPr>
            <a:spLocks xmlns:a="http://schemas.openxmlformats.org/drawingml/2006/main" noGrp="1"/>
          </p:cNvSpPr>
          <p:nvPr/>
        </p:nvSpPr>
        <p:spPr>
          <a:xfrm xmlns:a="http://schemas.openxmlformats.org/drawingml/2006/main">
            <a:off x="6667500" y="30480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0243E"/>
                </a:solidFill>
                <a:latin typeface="Segoe UI"/>
                <a:ea typeface="Segoe UI"/>
                <a:cs typeface="Segoe UI"/>
              </a:defRPr>
            </a:pPr>
            <a:r>
              <a:rPr sz="1650" b="1">
                <a:solidFill>
                  <a:srgbClr val="10243E"/>
                </a:solidFill>
                <a:latin typeface="Segoe UI"/>
                <a:ea typeface="Segoe UI"/>
                <a:cs typeface="Segoe UI"/>
              </a:rPr>
              <a:t>PHOENIX LAUNCH PAD SCREENSHOT</a:t>
            </a:r>
          </a:p>
        </p:txBody>
      </p:sp>
      <p:sp>
        <p:nvSpPr>
          <p:cNvPr id="22" name="">
            <a:extLst xmlns:a="http://schemas.openxmlformats.org/drawingml/2006/main">
              <a:ext uri="{FF2B5EF4-FFF2-40B4-BE49-F238E27FC236}">
                <a16:creationId xmlns:a16="http://schemas.microsoft.com/office/drawing/2014/main" id="{7879A6D3-87DB-4DF4-BDAB-B25C8676021D}"/>
              </a:ext>
            </a:extLst>
          </p:cNvPr>
          <p:cNvSpPr>
            <a:spLocks xmlns:a="http://schemas.openxmlformats.org/drawingml/2006/main" noGrp="1"/>
          </p:cNvSpPr>
          <p:nvPr/>
        </p:nvSpPr>
        <p:spPr>
          <a:xfrm xmlns:a="http://schemas.openxmlformats.org/drawingml/2006/main">
            <a:off x="6819900" y="35242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78D"/>
                </a:solidFill>
                <a:latin typeface="Segoe UI"/>
                <a:ea typeface="Segoe UI"/>
                <a:cs typeface="Segoe UI"/>
              </a:defRPr>
            </a:pPr>
            <a:r>
              <a:rPr sz="1200" b="0">
                <a:solidFill>
                  <a:srgbClr val="66778D"/>
                </a:solidFill>
                <a:latin typeface="Segoe UI"/>
                <a:ea typeface="Segoe UI"/>
                <a:cs typeface="Segoe UI"/>
              </a:rPr>
              <a:t>Replace this area with the final Launch Pad image</a:t>
            </a:r>
          </a:p>
        </p:txBody>
      </p:sp>
      <p:sp>
        <p:nvSpPr>
          <p:cNvPr id="23" name="">
            <a:extLst xmlns:a="http://schemas.openxmlformats.org/drawingml/2006/main">
              <a:ext uri="{FF2B5EF4-FFF2-40B4-BE49-F238E27FC236}">
                <a16:creationId xmlns:a16="http://schemas.microsoft.com/office/drawing/2014/main" id="{41A3B6EC-3F2A-4916-BF5D-FD85B0FDEDFB}"/>
              </a:ext>
            </a:extLst>
          </p:cNvPr>
          <p:cNvSpPr>
            <a:spLocks xmlns:a="http://schemas.openxmlformats.org/drawingml/2006/main" noGrp="1"/>
          </p:cNvSpPr>
          <p:nvPr/>
        </p:nvSpPr>
        <p:spPr>
          <a:xfrm xmlns:a="http://schemas.openxmlformats.org/drawingml/2006/main">
            <a:off x="7524750" y="4333875"/>
            <a:ext cx="2381250" cy="19050"/>
          </a:xfrm>
          <a:prstGeom xmlns:a="http://schemas.openxmlformats.org/drawingml/2006/main" prst="rect">
            <a:avLst/>
          </a:prstGeom>
          <a:solidFill xmlns:a="http://schemas.openxmlformats.org/drawingml/2006/main">
            <a:srgbClr val="BFD8E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91D7653-E756-4938-9C68-06AEF131E520}"/>
              </a:ext>
            </a:extLst>
          </p:cNvPr>
          <p:cNvSpPr>
            <a:spLocks xmlns:a="http://schemas.openxmlformats.org/drawingml/2006/main" noGrp="1"/>
          </p:cNvSpPr>
          <p:nvPr/>
        </p:nvSpPr>
        <p:spPr>
          <a:xfrm xmlns:a="http://schemas.openxmlformats.org/drawingml/2006/main">
            <a:off x="7677150" y="45720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467D2"/>
                </a:solidFill>
                <a:latin typeface="Segoe UI"/>
                <a:ea typeface="Segoe UI"/>
                <a:cs typeface="Segoe UI"/>
              </a:defRPr>
            </a:pPr>
            <a:r>
              <a:rPr sz="975" b="1">
                <a:solidFill>
                  <a:srgbClr val="1467D2"/>
                </a:solidFill>
                <a:latin typeface="Segoe UI"/>
                <a:ea typeface="Segoe UI"/>
                <a:cs typeface="Segoe UI"/>
              </a:rPr>
              <a:t>Image placeholder</a:t>
            </a:r>
          </a:p>
        </p:txBody>
      </p:sp>
      <p:sp>
        <p:nvSpPr>
          <p:cNvPr id="25" name="">
            <a:extLst xmlns:a="http://schemas.openxmlformats.org/drawingml/2006/main">
              <a:ext uri="{FF2B5EF4-FFF2-40B4-BE49-F238E27FC236}">
                <a16:creationId xmlns:a16="http://schemas.microsoft.com/office/drawing/2014/main" id="{CD5CE073-7DB4-41F6-89A5-5AAD0B1C375B}"/>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A9BB0"/>
                </a:solidFill>
                <a:latin typeface="Segoe UI"/>
                <a:ea typeface="Segoe UI"/>
                <a:cs typeface="Segoe UI"/>
              </a:defRPr>
            </a:pPr>
            <a:r>
              <a:rPr sz="825" b="1">
                <a:solidFill>
                  <a:srgbClr val="8A9BB0"/>
                </a:solidFill>
                <a:latin typeface="Segoe UI"/>
                <a:ea typeface="Segoe UI"/>
                <a:cs typeface="Segoe UI"/>
              </a:rPr>
              <a:t>05</a:t>
            </a:r>
          </a:p>
        </p:txBody>
      </p:sp>
    </p:spTree>
    <p:extLst>
      <p:ext uri="{BB962C8B-B14F-4D97-AF65-F5344CB8AC3E}">
        <p14:creationId xmlns:p14="http://schemas.microsoft.com/office/powerpoint/2010/main" val="714231685"/>
      </p:ext>
    </p:extLst>
  </p:cSld>
</p:sld>
</file>

<file path=ppt/slides/slide6.xml><?xml version="1.0" encoding="utf-8"?>
<p:sld xmlns:p="http://schemas.openxmlformats.org/presentationml/2006/main">
  <p:cSld>
    <p:bg>
      <p:bgPr>
        <a:solidFill xmlns:a="http://schemas.openxmlformats.org/drawingml/2006/main">
          <a:srgbClr val="071B3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85F37B9-78DB-485A-9A2A-7228F9FF367C}"/>
              </a:ext>
            </a:extLst>
          </p:cNvPr>
          <p:cNvSpPr>
            <a:spLocks xmlns:a="http://schemas.openxmlformats.org/drawingml/2006/main" noGrp="1"/>
          </p:cNvSpPr>
          <p:nvPr/>
        </p:nvSpPr>
        <p:spPr>
          <a:xfrm xmlns:a="http://schemas.openxmlformats.org/drawingml/2006/main">
            <a:off x="685800" y="5905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FFFFF"/>
                </a:solidFill>
                <a:latin typeface="Segoe UI"/>
                <a:ea typeface="Segoe UI"/>
                <a:cs typeface="Segoe UI"/>
              </a:defRPr>
            </a:pPr>
            <a:r>
              <a:rPr sz="2700" b="1">
                <a:solidFill>
                  <a:srgbClr val="FFFFFF"/>
                </a:solidFill>
                <a:latin typeface="Segoe UI"/>
                <a:ea typeface="Segoe UI"/>
                <a:cs typeface="Segoe UI"/>
              </a:rPr>
              <a:t>Phoenix makes batch monitoring easier to use</a:t>
            </a:r>
          </a:p>
        </p:txBody>
      </p:sp>
      <p:sp>
        <p:nvSpPr>
          <p:cNvPr id="2" name="">
            <a:extLst xmlns:a="http://schemas.openxmlformats.org/drawingml/2006/main">
              <a:ext uri="{FF2B5EF4-FFF2-40B4-BE49-F238E27FC236}">
                <a16:creationId xmlns:a16="http://schemas.microsoft.com/office/drawing/2014/main" id="{A51BB401-C879-4170-9F24-252C4E1ED0F4}"/>
              </a:ext>
            </a:extLst>
          </p:cNvPr>
          <p:cNvSpPr>
            <a:spLocks xmlns:a="http://schemas.openxmlformats.org/drawingml/2006/main" noGrp="1"/>
          </p:cNvSpPr>
          <p:nvPr/>
        </p:nvSpPr>
        <p:spPr>
          <a:xfrm xmlns:a="http://schemas.openxmlformats.org/drawingml/2006/main">
            <a:off x="685800" y="12001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C6D7E8"/>
                </a:solidFill>
                <a:latin typeface="Segoe UI"/>
                <a:ea typeface="Segoe UI"/>
                <a:cs typeface="Segoe UI"/>
              </a:defRPr>
            </a:pPr>
            <a:r>
              <a:rPr sz="1275" b="0">
                <a:solidFill>
                  <a:srgbClr val="C6D7E8"/>
                </a:solidFill>
                <a:latin typeface="Segoe UI"/>
                <a:ea typeface="Segoe UI"/>
                <a:cs typeface="Segoe UI"/>
              </a:rPr>
              <a:t>A dedicated application built for the way operations teams work today</a:t>
            </a:r>
          </a:p>
        </p:txBody>
      </p:sp>
      <p:sp>
        <p:nvSpPr>
          <p:cNvPr id="3" name="">
            <a:extLst xmlns:a="http://schemas.openxmlformats.org/drawingml/2006/main">
              <a:ext uri="{FF2B5EF4-FFF2-40B4-BE49-F238E27FC236}">
                <a16:creationId xmlns:a16="http://schemas.microsoft.com/office/drawing/2014/main" id="{0D14D60F-6FA4-4415-A03A-05941A166695}"/>
              </a:ext>
            </a:extLst>
          </p:cNvPr>
          <p:cNvSpPr>
            <a:spLocks xmlns:a="http://schemas.openxmlformats.org/drawingml/2006/main" noGrp="1"/>
          </p:cNvSpPr>
          <p:nvPr/>
        </p:nvSpPr>
        <p:spPr>
          <a:xfrm xmlns:a="http://schemas.openxmlformats.org/drawingml/2006/main">
            <a:off x="685800" y="2076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5B7F4"/>
                </a:solidFill>
                <a:latin typeface="Segoe UI"/>
                <a:ea typeface="Segoe UI"/>
                <a:cs typeface="Segoe UI"/>
              </a:defRPr>
            </a:pPr>
            <a:r>
              <a:rPr sz="2250" b="1">
                <a:solidFill>
                  <a:srgbClr val="25B7F4"/>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E26AEF5B-D4C4-45DD-8FDA-1141076D5CDA}"/>
              </a:ext>
            </a:extLst>
          </p:cNvPr>
          <p:cNvSpPr>
            <a:spLocks xmlns:a="http://schemas.openxmlformats.org/drawingml/2006/main" noGrp="1"/>
          </p:cNvSpPr>
          <p:nvPr/>
        </p:nvSpPr>
        <p:spPr>
          <a:xfrm xmlns:a="http://schemas.openxmlformats.org/drawingml/2006/main">
            <a:off x="685800" y="2590800"/>
            <a:ext cx="2266950" cy="19050"/>
          </a:xfrm>
          <a:prstGeom xmlns:a="http://schemas.openxmlformats.org/drawingml/2006/main" prst="rect">
            <a:avLst/>
          </a:prstGeom>
          <a:solidFill xmlns:a="http://schemas.openxmlformats.org/drawingml/2006/main">
            <a:srgbClr val="2A4A6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F4277D-463F-4879-A0C0-467713EF695B}"/>
              </a:ext>
            </a:extLst>
          </p:cNvPr>
          <p:cNvSpPr>
            <a:spLocks xmlns:a="http://schemas.openxmlformats.org/drawingml/2006/main" noGrp="1"/>
          </p:cNvSpPr>
          <p:nvPr/>
        </p:nvSpPr>
        <p:spPr>
          <a:xfrm xmlns:a="http://schemas.openxmlformats.org/drawingml/2006/main">
            <a:off x="685800" y="2819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Clearer visibility</a:t>
            </a:r>
          </a:p>
        </p:txBody>
      </p:sp>
      <p:sp>
        <p:nvSpPr>
          <p:cNvPr id="6" name="">
            <a:extLst xmlns:a="http://schemas.openxmlformats.org/drawingml/2006/main">
              <a:ext uri="{FF2B5EF4-FFF2-40B4-BE49-F238E27FC236}">
                <a16:creationId xmlns:a16="http://schemas.microsoft.com/office/drawing/2014/main" id="{8D8BCCFE-B06C-43D1-9344-2950A7683D7B}"/>
              </a:ext>
            </a:extLst>
          </p:cNvPr>
          <p:cNvSpPr>
            <a:spLocks xmlns:a="http://schemas.openxmlformats.org/drawingml/2006/main" noGrp="1"/>
          </p:cNvSpPr>
          <p:nvPr/>
        </p:nvSpPr>
        <p:spPr>
          <a:xfrm xmlns:a="http://schemas.openxmlformats.org/drawingml/2006/main">
            <a:off x="685800" y="3333750"/>
            <a:ext cx="2266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FD0E1"/>
                </a:solidFill>
                <a:latin typeface="Segoe UI"/>
                <a:ea typeface="Segoe UI"/>
                <a:cs typeface="Segoe UI"/>
              </a:defRPr>
            </a:pPr>
            <a:r>
              <a:rPr sz="1125" b="0">
                <a:solidFill>
                  <a:srgbClr val="BFD0E1"/>
                </a:solidFill>
                <a:latin typeface="Segoe UI"/>
                <a:ea typeface="Segoe UI"/>
                <a:cs typeface="Segoe UI"/>
              </a:rPr>
              <a:t>A central dashboard brings batch activity into one view.</a:t>
            </a:r>
          </a:p>
        </p:txBody>
      </p:sp>
      <p:sp>
        <p:nvSpPr>
          <p:cNvPr id="7" name="">
            <a:extLst xmlns:a="http://schemas.openxmlformats.org/drawingml/2006/main">
              <a:ext uri="{FF2B5EF4-FFF2-40B4-BE49-F238E27FC236}">
                <a16:creationId xmlns:a16="http://schemas.microsoft.com/office/drawing/2014/main" id="{77401427-5CF7-4E19-8B52-10FBE16DD69A}"/>
              </a:ext>
            </a:extLst>
          </p:cNvPr>
          <p:cNvSpPr>
            <a:spLocks xmlns:a="http://schemas.openxmlformats.org/drawingml/2006/main" noGrp="1"/>
          </p:cNvSpPr>
          <p:nvPr/>
        </p:nvSpPr>
        <p:spPr>
          <a:xfrm xmlns:a="http://schemas.openxmlformats.org/drawingml/2006/main">
            <a:off x="3409950" y="2076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5B7F4"/>
                </a:solidFill>
                <a:latin typeface="Segoe UI"/>
                <a:ea typeface="Segoe UI"/>
                <a:cs typeface="Segoe UI"/>
              </a:defRPr>
            </a:pPr>
            <a:r>
              <a:rPr sz="2250" b="1">
                <a:solidFill>
                  <a:srgbClr val="25B7F4"/>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895B5204-4302-44F2-ACDF-DBEF4099D200}"/>
              </a:ext>
            </a:extLst>
          </p:cNvPr>
          <p:cNvSpPr>
            <a:spLocks xmlns:a="http://schemas.openxmlformats.org/drawingml/2006/main" noGrp="1"/>
          </p:cNvSpPr>
          <p:nvPr/>
        </p:nvSpPr>
        <p:spPr>
          <a:xfrm xmlns:a="http://schemas.openxmlformats.org/drawingml/2006/main">
            <a:off x="3409950" y="2590800"/>
            <a:ext cx="2266950" cy="19050"/>
          </a:xfrm>
          <a:prstGeom xmlns:a="http://schemas.openxmlformats.org/drawingml/2006/main" prst="rect">
            <a:avLst/>
          </a:prstGeom>
          <a:solidFill xmlns:a="http://schemas.openxmlformats.org/drawingml/2006/main">
            <a:srgbClr val="2A4A6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E1E75C-5D1B-4C70-9099-C987E71EBF03}"/>
              </a:ext>
            </a:extLst>
          </p:cNvPr>
          <p:cNvSpPr>
            <a:spLocks xmlns:a="http://schemas.openxmlformats.org/drawingml/2006/main" noGrp="1"/>
          </p:cNvSpPr>
          <p:nvPr/>
        </p:nvSpPr>
        <p:spPr>
          <a:xfrm xmlns:a="http://schemas.openxmlformats.org/drawingml/2006/main">
            <a:off x="3409950" y="2819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Faster retrieval</a:t>
            </a:r>
          </a:p>
        </p:txBody>
      </p:sp>
      <p:sp>
        <p:nvSpPr>
          <p:cNvPr id="10" name="">
            <a:extLst xmlns:a="http://schemas.openxmlformats.org/drawingml/2006/main">
              <a:ext uri="{FF2B5EF4-FFF2-40B4-BE49-F238E27FC236}">
                <a16:creationId xmlns:a16="http://schemas.microsoft.com/office/drawing/2014/main" id="{3309E6D7-5332-4D0F-9915-B56445EF835B}"/>
              </a:ext>
            </a:extLst>
          </p:cNvPr>
          <p:cNvSpPr>
            <a:spLocks xmlns:a="http://schemas.openxmlformats.org/drawingml/2006/main" noGrp="1"/>
          </p:cNvSpPr>
          <p:nvPr/>
        </p:nvSpPr>
        <p:spPr>
          <a:xfrm xmlns:a="http://schemas.openxmlformats.org/drawingml/2006/main">
            <a:off x="3409950" y="3333750"/>
            <a:ext cx="2266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FD0E1"/>
                </a:solidFill>
                <a:latin typeface="Segoe UI"/>
                <a:ea typeface="Segoe UI"/>
                <a:cs typeface="Segoe UI"/>
              </a:defRPr>
            </a:pPr>
            <a:r>
              <a:rPr sz="1125" b="0">
                <a:solidFill>
                  <a:srgbClr val="BFD0E1"/>
                </a:solidFill>
                <a:latin typeface="Segoe UI"/>
                <a:ea typeface="Segoe UI"/>
                <a:cs typeface="Segoe UI"/>
              </a:rPr>
              <a:t>Search and filtering reduce the effort needed to find details.</a:t>
            </a:r>
          </a:p>
        </p:txBody>
      </p:sp>
      <p:sp>
        <p:nvSpPr>
          <p:cNvPr id="11" name="">
            <a:extLst xmlns:a="http://schemas.openxmlformats.org/drawingml/2006/main">
              <a:ext uri="{FF2B5EF4-FFF2-40B4-BE49-F238E27FC236}">
                <a16:creationId xmlns:a16="http://schemas.microsoft.com/office/drawing/2014/main" id="{F0EE4902-010C-4250-A91E-1E416A0A1C6F}"/>
              </a:ext>
            </a:extLst>
          </p:cNvPr>
          <p:cNvSpPr>
            <a:spLocks xmlns:a="http://schemas.openxmlformats.org/drawingml/2006/main" noGrp="1"/>
          </p:cNvSpPr>
          <p:nvPr/>
        </p:nvSpPr>
        <p:spPr>
          <a:xfrm xmlns:a="http://schemas.openxmlformats.org/drawingml/2006/main">
            <a:off x="6134100" y="2076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5B7F4"/>
                </a:solidFill>
                <a:latin typeface="Segoe UI"/>
                <a:ea typeface="Segoe UI"/>
                <a:cs typeface="Segoe UI"/>
              </a:defRPr>
            </a:pPr>
            <a:r>
              <a:rPr sz="2250" b="1">
                <a:solidFill>
                  <a:srgbClr val="25B7F4"/>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810C29A6-0C40-4B87-B329-993F058E3048}"/>
              </a:ext>
            </a:extLst>
          </p:cNvPr>
          <p:cNvSpPr>
            <a:spLocks xmlns:a="http://schemas.openxmlformats.org/drawingml/2006/main" noGrp="1"/>
          </p:cNvSpPr>
          <p:nvPr/>
        </p:nvSpPr>
        <p:spPr>
          <a:xfrm xmlns:a="http://schemas.openxmlformats.org/drawingml/2006/main">
            <a:off x="6134100" y="2590800"/>
            <a:ext cx="2266950" cy="19050"/>
          </a:xfrm>
          <a:prstGeom xmlns:a="http://schemas.openxmlformats.org/drawingml/2006/main" prst="rect">
            <a:avLst/>
          </a:prstGeom>
          <a:solidFill xmlns:a="http://schemas.openxmlformats.org/drawingml/2006/main">
            <a:srgbClr val="2A4A6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649225-9BBB-4DC9-8650-4106E7393F08}"/>
              </a:ext>
            </a:extLst>
          </p:cNvPr>
          <p:cNvSpPr>
            <a:spLocks xmlns:a="http://schemas.openxmlformats.org/drawingml/2006/main" noGrp="1"/>
          </p:cNvSpPr>
          <p:nvPr/>
        </p:nvSpPr>
        <p:spPr>
          <a:xfrm xmlns:a="http://schemas.openxmlformats.org/drawingml/2006/main">
            <a:off x="6134100" y="2819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Controlled access</a:t>
            </a:r>
          </a:p>
        </p:txBody>
      </p:sp>
      <p:sp>
        <p:nvSpPr>
          <p:cNvPr id="14" name="">
            <a:extLst xmlns:a="http://schemas.openxmlformats.org/drawingml/2006/main">
              <a:ext uri="{FF2B5EF4-FFF2-40B4-BE49-F238E27FC236}">
                <a16:creationId xmlns:a16="http://schemas.microsoft.com/office/drawing/2014/main" id="{9E028497-31E8-4548-9764-B9AA523E588E}"/>
              </a:ext>
            </a:extLst>
          </p:cNvPr>
          <p:cNvSpPr>
            <a:spLocks xmlns:a="http://schemas.openxmlformats.org/drawingml/2006/main" noGrp="1"/>
          </p:cNvSpPr>
          <p:nvPr/>
        </p:nvSpPr>
        <p:spPr>
          <a:xfrm xmlns:a="http://schemas.openxmlformats.org/drawingml/2006/main">
            <a:off x="6134100" y="3333750"/>
            <a:ext cx="2266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FD0E1"/>
                </a:solidFill>
                <a:latin typeface="Segoe UI"/>
                <a:ea typeface="Segoe UI"/>
                <a:cs typeface="Segoe UI"/>
              </a:defRPr>
            </a:pPr>
            <a:r>
              <a:rPr sz="1125" b="0">
                <a:solidFill>
                  <a:srgbClr val="BFD0E1"/>
                </a:solidFill>
                <a:latin typeface="Segoe UI"/>
                <a:ea typeface="Segoe UI"/>
                <a:cs typeface="Segoe UI"/>
              </a:rPr>
              <a:t>Authentication keeps application access secure.</a:t>
            </a:r>
          </a:p>
        </p:txBody>
      </p:sp>
      <p:sp>
        <p:nvSpPr>
          <p:cNvPr id="15" name="">
            <a:extLst xmlns:a="http://schemas.openxmlformats.org/drawingml/2006/main">
              <a:ext uri="{FF2B5EF4-FFF2-40B4-BE49-F238E27FC236}">
                <a16:creationId xmlns:a16="http://schemas.microsoft.com/office/drawing/2014/main" id="{E7522933-88AB-4904-82B0-853681F77D06}"/>
              </a:ext>
            </a:extLst>
          </p:cNvPr>
          <p:cNvSpPr>
            <a:spLocks xmlns:a="http://schemas.openxmlformats.org/drawingml/2006/main" noGrp="1"/>
          </p:cNvSpPr>
          <p:nvPr/>
        </p:nvSpPr>
        <p:spPr>
          <a:xfrm xmlns:a="http://schemas.openxmlformats.org/drawingml/2006/main">
            <a:off x="8858250" y="2076450"/>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5B7F4"/>
                </a:solidFill>
                <a:latin typeface="Segoe UI"/>
                <a:ea typeface="Segoe UI"/>
                <a:cs typeface="Segoe UI"/>
              </a:defRPr>
            </a:pPr>
            <a:r>
              <a:rPr sz="2250" b="1">
                <a:solidFill>
                  <a:srgbClr val="25B7F4"/>
                </a:solidFill>
                <a:latin typeface="Segoe UI"/>
                <a:ea typeface="Segoe UI"/>
                <a:cs typeface="Segoe UI"/>
              </a:rPr>
              <a:t>04</a:t>
            </a:r>
          </a:p>
        </p:txBody>
      </p:sp>
      <p:sp>
        <p:nvSpPr>
          <p:cNvPr id="16" name="">
            <a:extLst xmlns:a="http://schemas.openxmlformats.org/drawingml/2006/main">
              <a:ext uri="{FF2B5EF4-FFF2-40B4-BE49-F238E27FC236}">
                <a16:creationId xmlns:a16="http://schemas.microsoft.com/office/drawing/2014/main" id="{B13E5FEF-3269-4546-B17B-3E86D2DF0BF3}"/>
              </a:ext>
            </a:extLst>
          </p:cNvPr>
          <p:cNvSpPr>
            <a:spLocks xmlns:a="http://schemas.openxmlformats.org/drawingml/2006/main" noGrp="1"/>
          </p:cNvSpPr>
          <p:nvPr/>
        </p:nvSpPr>
        <p:spPr>
          <a:xfrm xmlns:a="http://schemas.openxmlformats.org/drawingml/2006/main">
            <a:off x="8858250" y="2590800"/>
            <a:ext cx="2266950" cy="19050"/>
          </a:xfrm>
          <a:prstGeom xmlns:a="http://schemas.openxmlformats.org/drawingml/2006/main" prst="rect">
            <a:avLst/>
          </a:prstGeom>
          <a:solidFill xmlns:a="http://schemas.openxmlformats.org/drawingml/2006/main">
            <a:srgbClr val="2A4A6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F1A5E3-0D53-4728-A91D-248A37F8ADCE}"/>
              </a:ext>
            </a:extLst>
          </p:cNvPr>
          <p:cNvSpPr>
            <a:spLocks xmlns:a="http://schemas.openxmlformats.org/drawingml/2006/main" noGrp="1"/>
          </p:cNvSpPr>
          <p:nvPr/>
        </p:nvSpPr>
        <p:spPr>
          <a:xfrm xmlns:a="http://schemas.openxmlformats.org/drawingml/2006/main">
            <a:off x="8858250" y="28194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Better experience</a:t>
            </a:r>
          </a:p>
        </p:txBody>
      </p:sp>
      <p:sp>
        <p:nvSpPr>
          <p:cNvPr id="18" name="">
            <a:extLst xmlns:a="http://schemas.openxmlformats.org/drawingml/2006/main">
              <a:ext uri="{FF2B5EF4-FFF2-40B4-BE49-F238E27FC236}">
                <a16:creationId xmlns:a16="http://schemas.microsoft.com/office/drawing/2014/main" id="{83E02984-DB99-4A3D-AA3B-1BFA25258A4D}"/>
              </a:ext>
            </a:extLst>
          </p:cNvPr>
          <p:cNvSpPr>
            <a:spLocks xmlns:a="http://schemas.openxmlformats.org/drawingml/2006/main" noGrp="1"/>
          </p:cNvSpPr>
          <p:nvPr/>
        </p:nvSpPr>
        <p:spPr>
          <a:xfrm xmlns:a="http://schemas.openxmlformats.org/drawingml/2006/main">
            <a:off x="8858250" y="3333750"/>
            <a:ext cx="2266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FD0E1"/>
                </a:solidFill>
                <a:latin typeface="Segoe UI"/>
                <a:ea typeface="Segoe UI"/>
                <a:cs typeface="Segoe UI"/>
              </a:defRPr>
            </a:pPr>
            <a:r>
              <a:rPr sz="1125" b="0">
                <a:solidFill>
                  <a:srgbClr val="BFD0E1"/>
                </a:solidFill>
                <a:latin typeface="Segoe UI"/>
                <a:ea typeface="Segoe UI"/>
                <a:cs typeface="Segoe UI"/>
              </a:rPr>
              <a:t>A modern React interface replaces the legacy bot flow.</a:t>
            </a:r>
          </a:p>
        </p:txBody>
      </p:sp>
      <p:sp>
        <p:nvSpPr>
          <p:cNvPr id="19" name="">
            <a:extLst xmlns:a="http://schemas.openxmlformats.org/drawingml/2006/main">
              <a:ext uri="{FF2B5EF4-FFF2-40B4-BE49-F238E27FC236}">
                <a16:creationId xmlns:a16="http://schemas.microsoft.com/office/drawing/2014/main" id="{B7A0D202-8357-45EF-8CDA-6480E50A86E4}"/>
              </a:ext>
            </a:extLst>
          </p:cNvPr>
          <p:cNvSpPr>
            <a:spLocks xmlns:a="http://schemas.openxmlformats.org/drawingml/2006/main" noGrp="1"/>
          </p:cNvSpPr>
          <p:nvPr/>
        </p:nvSpPr>
        <p:spPr>
          <a:xfrm xmlns:a="http://schemas.openxmlformats.org/drawingml/2006/main">
            <a:off x="685800" y="4762500"/>
            <a:ext cx="10820400" cy="1009650"/>
          </a:xfrm>
          <a:prstGeom xmlns:a="http://schemas.openxmlformats.org/drawingml/2006/main" prst="roundRect">
            <a:avLst>
              <a:gd name="adj" fmla="val 18868"/>
            </a:avLst>
          </a:prstGeom>
          <a:solidFill xmlns:a="http://schemas.openxmlformats.org/drawingml/2006/main">
            <a:srgbClr val="0B2748"/>
          </a:solidFill>
          <a:ln xmlns:a="http://schemas.openxmlformats.org/drawingml/2006/main" w="9525">
            <a:solidFill>
              <a:srgbClr val="2A5C84"/>
            </a:solidFill>
            <a:prstDash val="solid"/>
          </a:ln>
        </p:spPr>
      </p:sp>
      <p:sp>
        <p:nvSpPr>
          <p:cNvPr id="20" name="">
            <a:extLst xmlns:a="http://schemas.openxmlformats.org/drawingml/2006/main">
              <a:ext uri="{FF2B5EF4-FFF2-40B4-BE49-F238E27FC236}">
                <a16:creationId xmlns:a16="http://schemas.microsoft.com/office/drawing/2014/main" id="{595D6DD9-51BA-4923-B663-45D6B1C148D1}"/>
              </a:ext>
            </a:extLst>
          </p:cNvPr>
          <p:cNvSpPr>
            <a:spLocks xmlns:a="http://schemas.openxmlformats.org/drawingml/2006/main" noGrp="1"/>
          </p:cNvSpPr>
          <p:nvPr/>
        </p:nvSpPr>
        <p:spPr>
          <a:xfrm xmlns:a="http://schemas.openxmlformats.org/drawingml/2006/main">
            <a:off x="971550" y="50673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8FA6BF"/>
                </a:solidFill>
                <a:latin typeface="Segoe UI"/>
                <a:ea typeface="Segoe UI"/>
                <a:cs typeface="Segoe UI"/>
              </a:defRPr>
            </a:pPr>
            <a:r>
              <a:rPr sz="825" b="1">
                <a:solidFill>
                  <a:srgbClr val="8FA6BF"/>
                </a:solidFill>
                <a:latin typeface="Segoe UI"/>
                <a:ea typeface="Segoe UI"/>
                <a:cs typeface="Segoe UI"/>
              </a:rPr>
              <a:t>FROM</a:t>
            </a:r>
          </a:p>
        </p:txBody>
      </p:sp>
      <p:sp>
        <p:nvSpPr>
          <p:cNvPr id="21" name="">
            <a:extLst xmlns:a="http://schemas.openxmlformats.org/drawingml/2006/main">
              <a:ext uri="{FF2B5EF4-FFF2-40B4-BE49-F238E27FC236}">
                <a16:creationId xmlns:a16="http://schemas.microsoft.com/office/drawing/2014/main" id="{F5EE7979-06EA-4F01-BAC0-333F4BBE562F}"/>
              </a:ext>
            </a:extLst>
          </p:cNvPr>
          <p:cNvSpPr>
            <a:spLocks xmlns:a="http://schemas.openxmlformats.org/drawingml/2006/main" noGrp="1"/>
          </p:cNvSpPr>
          <p:nvPr/>
        </p:nvSpPr>
        <p:spPr>
          <a:xfrm xmlns:a="http://schemas.openxmlformats.org/drawingml/2006/main">
            <a:off x="1676400" y="49720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Deprecated Webex bot</a:t>
            </a:r>
          </a:p>
        </p:txBody>
      </p:sp>
      <p:sp>
        <p:nvSpPr>
          <p:cNvPr id="22" name="">
            <a:extLst xmlns:a="http://schemas.openxmlformats.org/drawingml/2006/main">
              <a:ext uri="{FF2B5EF4-FFF2-40B4-BE49-F238E27FC236}">
                <a16:creationId xmlns:a16="http://schemas.microsoft.com/office/drawing/2014/main" id="{007B2F3E-3844-4696-85F3-8BCF9B6A7DF3}"/>
              </a:ext>
            </a:extLst>
          </p:cNvPr>
          <p:cNvSpPr>
            <a:spLocks xmlns:a="http://schemas.openxmlformats.org/drawingml/2006/main" noGrp="1"/>
          </p:cNvSpPr>
          <p:nvPr/>
        </p:nvSpPr>
        <p:spPr>
          <a:xfrm xmlns:a="http://schemas.openxmlformats.org/drawingml/2006/main">
            <a:off x="4953000" y="5067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5B7F4"/>
                </a:solidFill>
                <a:latin typeface="Segoe UI"/>
                <a:ea typeface="Segoe UI"/>
                <a:cs typeface="Segoe UI"/>
              </a:defRPr>
            </a:pPr>
            <a:r>
              <a:rPr sz="825" b="1">
                <a:solidFill>
                  <a:srgbClr val="25B7F4"/>
                </a:solidFill>
                <a:latin typeface="Segoe UI"/>
                <a:ea typeface="Segoe UI"/>
                <a:cs typeface="Segoe UI"/>
              </a:rPr>
              <a:t>TO</a:t>
            </a:r>
          </a:p>
        </p:txBody>
      </p:sp>
      <p:sp>
        <p:nvSpPr>
          <p:cNvPr id="23" name="">
            <a:extLst xmlns:a="http://schemas.openxmlformats.org/drawingml/2006/main">
              <a:ext uri="{FF2B5EF4-FFF2-40B4-BE49-F238E27FC236}">
                <a16:creationId xmlns:a16="http://schemas.microsoft.com/office/drawing/2014/main" id="{573C945F-3C5E-4D2C-A2DF-7C818817E702}"/>
              </a:ext>
            </a:extLst>
          </p:cNvPr>
          <p:cNvSpPr>
            <a:spLocks xmlns:a="http://schemas.openxmlformats.org/drawingml/2006/main" noGrp="1"/>
          </p:cNvSpPr>
          <p:nvPr/>
        </p:nvSpPr>
        <p:spPr>
          <a:xfrm xmlns:a="http://schemas.openxmlformats.org/drawingml/2006/main">
            <a:off x="5543550" y="4972050"/>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Standalone Phoenix application</a:t>
            </a:r>
          </a:p>
        </p:txBody>
      </p:sp>
      <p:sp>
        <p:nvSpPr>
          <p:cNvPr id="24" name="">
            <a:extLst xmlns:a="http://schemas.openxmlformats.org/drawingml/2006/main">
              <a:ext uri="{FF2B5EF4-FFF2-40B4-BE49-F238E27FC236}">
                <a16:creationId xmlns:a16="http://schemas.microsoft.com/office/drawing/2014/main" id="{236E8B35-1315-4DE3-BD10-A5027374B365}"/>
              </a:ext>
            </a:extLst>
          </p:cNvPr>
          <p:cNvSpPr>
            <a:spLocks xmlns:a="http://schemas.openxmlformats.org/drawingml/2006/main" noGrp="1"/>
          </p:cNvSpPr>
          <p:nvPr/>
        </p:nvSpPr>
        <p:spPr>
          <a:xfrm xmlns:a="http://schemas.openxmlformats.org/drawingml/2006/main">
            <a:off x="9772650" y="5029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25B7F4"/>
                </a:solidFill>
                <a:latin typeface="Segoe UI"/>
                <a:ea typeface="Segoe UI"/>
                <a:cs typeface="Segoe UI"/>
              </a:defRPr>
            </a:pPr>
            <a:r>
              <a:rPr sz="900" b="1">
                <a:solidFill>
                  <a:srgbClr val="25B7F4"/>
                </a:solidFill>
                <a:latin typeface="Segoe UI"/>
                <a:ea typeface="Segoe UI"/>
                <a:cs typeface="Segoe UI"/>
              </a:rPr>
              <a:t>VIBE CODING</a:t>
            </a:r>
          </a:p>
        </p:txBody>
      </p:sp>
      <p:sp>
        <p:nvSpPr>
          <p:cNvPr id="25" name="">
            <a:extLst xmlns:a="http://schemas.openxmlformats.org/drawingml/2006/main">
              <a:ext uri="{FF2B5EF4-FFF2-40B4-BE49-F238E27FC236}">
                <a16:creationId xmlns:a16="http://schemas.microsoft.com/office/drawing/2014/main" id="{8288C757-0773-4D29-BA5B-29A9C6F4FEFC}"/>
              </a:ext>
            </a:extLst>
          </p:cNvPr>
          <p:cNvSpPr>
            <a:spLocks xmlns:a="http://schemas.openxmlformats.org/drawingml/2006/main" noGrp="1"/>
          </p:cNvSpPr>
          <p:nvPr/>
        </p:nvSpPr>
        <p:spPr>
          <a:xfrm xmlns:a="http://schemas.openxmlformats.org/drawingml/2006/main">
            <a:off x="11334750" y="6381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8FA6BF"/>
                </a:solidFill>
                <a:latin typeface="Segoe UI"/>
                <a:ea typeface="Segoe UI"/>
                <a:cs typeface="Segoe UI"/>
              </a:defRPr>
            </a:pPr>
            <a:r>
              <a:rPr sz="825" b="1">
                <a:solidFill>
                  <a:srgbClr val="8FA6BF"/>
                </a:solidFill>
                <a:latin typeface="Segoe UI"/>
                <a:ea typeface="Segoe UI"/>
                <a:cs typeface="Segoe UI"/>
              </a:rPr>
              <a:t>06</a:t>
            </a:r>
          </a:p>
        </p:txBody>
      </p:sp>
    </p:spTree>
    <p:extLst>
      <p:ext uri="{BB962C8B-B14F-4D97-AF65-F5344CB8AC3E}">
        <p14:creationId xmlns:p14="http://schemas.microsoft.com/office/powerpoint/2010/main" val="1075287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2026-10-06T12:38:14.2590000Z</dcterms:created>
  <dcterms:modified xsi:type="dcterms:W3CDTF">2026-10-06T12:38:14.2590000Z</dcterms:modified>
</coreProperties>
</file>